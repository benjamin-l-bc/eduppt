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：认识 AI" id="{c01b5826-35b5-5c41-e4fd-2dbd0c8a705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法宝一：语文" id="{db2cdc1a-ecbb-839a-a644-6efb7a5cafad}">
          <p14:sldIdLst>
            <p14:sldId id="263"/>
            <p14:sldId id="264"/>
            <p14:sldId id="265"/>
            <p14:sldId id="266"/>
          </p14:sldIdLst>
        </p14:section>
        <p14:section name="法宝二：数学" id="{5cc089f3-e88a-fbf7-514c-4c1878366056}">
          <p14:sldIdLst>
            <p14:sldId id="267"/>
            <p14:sldId id="268"/>
            <p14:sldId id="269"/>
            <p14:sldId id="270"/>
          </p14:sldIdLst>
        </p14:section>
        <p14:section name="法宝三：英语" id="{e2160c25-0ad7-fe4b-c3f0-ad9ea03219fb}">
          <p14:sldIdLst>
            <p14:sldId id="271"/>
            <p14:sldId id="272"/>
            <p14:sldId id="273"/>
            <p14:sldId id="274"/>
          </p14:sldIdLst>
        </p14:section>
        <p14:section name="总结" id="{31745cae-f10a-c630-a2c8-8083b76e5deb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【0:00–1:00 开场】
（上课前：戴好纸箱机器人头套，或把头套藏在讲台下，准备第 10 页用。）
老师：小朋友们好！今天老师带来了一节特别的课，名字叫——（指屏幕）《AI伴我成长》！
看，屏幕上这个圆圆的小家伙是谁呀？先别说，等一下我们来猜一猜。
今天我们还要找到三件“法宝”（指三个小标签）：语文、数学、英语。找到法宝的小朋友，下课可以拿到一张「AI 小训练师」贴纸哦！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【1:00–3:00 猜谜】
老师用神秘的语气，一条一条读：
“我没有嘴巴，却会说话；我没有小手，却会画画；我不用上学，却认识好多好多字。我是谁？”
请 2–3 位小朋友猜。可能的答案：机器人、手机、电脑、小爱同学……都夸一夸：“很接近了！”
如果有小朋友答出 AI / 人工智能，马上给他一个大拇指：“哇，你是小专家！”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【3:00–4:00 揭晓】
老师：答案就是——AI！（声音放大）
AI 的中文名字叫“人工智能”，就是人类做出来的、会学习的“电脑大脑”。
★ 互动：全班一起做“机器人动作”（两只手臂弯成直角，一顿一顿地动），用机器人的声音读：“A～ I～”，读 2 遍。
老师用机器人声音：“大家好，我是小智！今天我要和一（8）班的小朋友交朋友！”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【4:00–6:00 AI 在身边】
老师：其实 AI 早就住在我们身边了！
逐个指：智能音箱——你跟它说话它会回答；扫地机器人——自己认路扫地；拍照识花——拍一下就知道这是什么花；地图导航——告诉爸爸妈妈往哪儿开。
★ 互动：“家里有智能音箱的举手！有扫地机器人的举手！”
请一位小朋友说说：“你平时让它帮你做什么？”
（可选彩蛋：如果带了手机，现场对智能音箱 / AI 助手说一句“给一年级小朋友讲个 10 秒钟的笑话”。）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【6:00–8:30 游戏：AI 能不能？】
规则：老师读题，小朋友用身体回答——“能”就双手举过头顶比大圆圈 ⭕；“不能”就双手在胸前打叉 ❌。先练一次！
老师一题一题读，读的时候要夸张：
1. “AI 能画一只——穿西装、打领带的——恐龙吗？”（孩子会笑）
2. “AI 能帮你把不爱吃的青菜……吃掉吗？”（会有孩子大喊“能！”——正好制造反差）
3. “AI 能给你讲故事吗？”
4. “AI 能帮你……长高吗？”（老师可以踮脚、伸长脖子做“长高”动作）
每题先不说答案，数一数举 ⭕ 和 ❌ 的人，下一页统一揭晓。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【8:30–10:00 揭晓】
逐题揭晓：
1. 能！AI 真的可以画出穿西装的恐龙。（可选：课前用 AI 画图工具生成一张“穿西装打领带的恐龙”，此时展示，效果最好。提示词见教案。）
2. 不能！青菜要你自己吃，AI 没有肚子。（“谁今天会把青菜吃光？”）
3. 能！AI 会讲故事，还能编新故事。
4. 不能！长高要靠好好吃饭、好好睡觉、多运动。
小结：AI 很厉害，可它不是万能的。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【10:00–11:00 转折】
老师（换成垂头丧气的机器人声音）：“呜呜……小朋友，其实我有时候会闹笑话……”
老师（恢复正常）：AI 很聪明，但是它要靠我们“指挥”。想让 AI 又听话、又不出错，我们需要三件法宝——
（一个一个指）语文！数学！英语！
我们一件一件去找吧！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【11:00 法宝一】
老师：第一件法宝——语文！语文不只是认字写字，还要会“把话说清楚”。我们来看看，话没说清楚，会发生什么好笑的事……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【11:00–13:00 好笑的错误】
老师：小明想要一只小兔子，他对 AI 说：“给我画一只小动物！”
结果 AI 画出来——（停顿，指右边）——一只章鱼！（夸张地做章鱼八只脚乱舞的动作）
★ 提问：“章鱼是不是小动物？” ——是！“那 AI 错了吗？” ——AI 没错，是小明没说清楚！
“那小明应该怎么说？”请 2 位小朋友试着帮小明重新说一说。
（引导出：要说清楚是“兔子”，什么颜色，在干什么。）
过渡：说清楚真的很难吗？我们来玩个游戏试试！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【13:00–17:00 ★核心互动：指挥机器人老师】
道具：纸箱头套、一顶帽子（或一本书当帽子）、白板笔。
老师戴上头套，用机器人声音：“滴——机器人老师已上线！我只听字面意思，请下达指令！”
任务一：戴帽子（请举手的小朋友一句一句说）
· 孩子说“把帽子戴上” → 机器人：“滴！戴在哪里？”然后把帽子戴到膝盖上 / 脚上 / 套在手上。
· 孩子说“戴在头上” → 把帽子倒过来扣在头上，或者帽檐朝后歪戴。
· 孩子说“帽子口朝下，戴在头顶上” → 终于戴好了！全班鼓掌。
任务二：画笑脸（请 3–4 位小朋友轮流指挥）
· “画一个圆” → 在黑板角落画一个米粒大的圆（或巨大到出黑板的圆）。
· “画眼睛” → 画 5 只眼睛，或画在圆圈外面。
· “在圆里面上面画两个小圆当眼睛” → 照做，夸奖：“说得真清楚！”
· “画嘴巴” → 画一张哭脸的嘴巴；直到有人说“画一个弯弯的、像香蕉一样往上笑的嘴巴”。
★ 关键：一定要“很认真地”做错，越认真孩子越笑。
收尾（摘下头套）：刚才机器人为什么老做错？——因为我们的话没说清楚！AI 也是这样。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【17:00–19:30 魔法公式】
老师：说清楚有一个魔法公式：谁 + 什么样 + 在哪里 + 做什么。
带读：“一只——白白的、毛茸茸的——小兔子，在绿绿的草地上——吃胡萝卜。”这次 AI 画对啦！
★ 互动：“你想让 AI 画什么？用魔法公式说一说！”请 2–3 位小朋友说，其他同学检查：“他说了‘谁’吗？说了‘在哪里’吗？”
（可选：教室能上网的话，老师把孩子说的话现场输入 AI 画图工具，几秒就出图，全班会非常兴奋。只由老师操作。）
小结：语文学得好，话说得清楚，AI 才能听懂你！——恭喜大家找到第一件法宝！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【19:30 法宝二】
老师：第二件法宝——数学！你们知道吗？AI 有时候……连手指都数不清！不信？看下一页！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【20:00–21:00 数手指】
老师：这是 AI 画的一只手。我们一起数——（用教鞭一根一根指）1、2、3、4、5、6！
“6 根！”再请大家伸出自己的手数一数：“5 根！”
老师夸张地看自己的手：“我也是 5 根！AI 画错啦！”
这是真的：AI 画画时经常把手指画多或画少。（可选：课前用 AI 画图工具生成一张真实的“六指手”图片替换。）
小结：会数数，才能发现 AI 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【21:00–23:00 ★互动：AI 小侦探】
老师：现在你们都是“AI 小侦探”！AI 做了三道题，请你检查它算对了没有。还是用 ⭕ 和 ❌ 回答。
第 1 题：树上有 5 只小鸟，飞走了 2 只，AI 说还剩 7 只。
——请大家伸出 5 根手指，弯下去 2 根，还剩几根？3 根！AI 错了，它把“飞走”当成了“飞来”。
第 2 题：1 个苹果加 1 个苹果，AI 说等于 11 个苹果！（老师读得一本正经，孩子会大笑）
——两个 1 挨在一起变成了 11，这是真实存在的电脑“笑话”！应该是 2 个。
第 3 题：4 块饼干，又拿来 3 块，AI 说一共 7 块。——这次对啦！所以 AI 也不是总错，要自己检查。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【23:00–24:30 揭晓 + 小结】
逐张揭晓，每揭晓一个就让全班一起喊答案：“3 只！”“2 个！”“7 块，对啦！”
小结：AI 说的话不一定都对。数学学得好，你就能当 AI 的小老师，帮它找错误！——恭喜找到第二件法宝！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【24:30 法宝三】
老师：第三件法宝——英语！你们知道吗，“AI”这两个字母本身就是英文。很多 AI 最先学会的就是英语。
不过，AI 翻译英语的时候，也闹过大笑话……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【25:00–26:30 ★猜一猜 hot dog】
老师：hot 是“热”，dog 是“狗”。那 hot dog 是什么？
（读选项时加动作：①老师扇风、吐舌头、喘气装热狗狗；②做咬面包的动作；③做被辣到的样子“嘶哈嘶哈”。）
★ 互动：伸出手指投票，觉得是 1 的伸 1 根手指，是 2 的伸 2 根……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【26:30–27:30 揭晓】
答案是 2：hot dog 是夹着香肠的面包，中文叫“热狗”。
可是，如果一个 AI 只会一个字一个字地翻译，它就会翻成“一只很热的狗”——①号这只满头大汗的小狗！（孩子会笑）
小结：学好英语，AI 翻错了你也能一眼发现！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【27:30–30:30 ★互动：Robot, please!】
第一轮：老师戴上机器人头套。小朋友举手用英语下指令，老师照做（指令要加 please 更有礼貌）。
· 有人用中文说“跳一下” → 机器人愣住：“Beep! Beep! I don't understand!”（原地卡顿抖动）——孩子会马上改成英语。
· 说 “Jump!” → 老师跳；说 “Turn around!” → 老师转圈，可以故意转 3 圈转晕。
· 搞笑彩蛋：有人说 “Touch your nose!” → 机器人先摸了旁边小朋友的鼻子 / 摸了自己的耳朵，“Oops! Sorry!”
第二轮（反转）：全班当机器人，老师下指令：Stand up! → Clap your hands! → Touch your nose! → Turn around! → Sit down!
最后一个一定是 Sit down，顺利收回课堂秩序。
小结：会英语，就能和更多 AI、更多世界上的小朋友交朋友！——恭喜找到第三件法宝！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【30:30–31:30 总结三件法宝】
老师：今天我们找到了哪三件法宝？（全班一起喊）语文！数学！英语！
· 语文——把话说清楚，AI 才听得懂。（回忆：章鱼、机器人老师戴帽子）
· 数学——会数会算，AI 错了我知道。（回忆：六根手指、11 个苹果）
· 英语——会说英语，世界朋友多。（回忆：很热的狗）
所以，想要用好 AI，最重要的是——先把自己的本领学扎实！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【31:30–33:00 四个约定】
老师：AI 是我们的好朋友，和好朋友相处也有约定。我们伸出小拇指，一起来拉钩：
1. 作业自己做——AI 是帮手，不能替我们学习。（“AI 帮你写作业，那长本领的是谁呀？”——是 AI！）
2. 大人陪着用——用手机、用 AI，要有爸爸妈妈在身边。
3. 秘密不告诉——自己的名字、电话、家住在哪里，不告诉 AI，也不告诉陌生人。
4. 动脑想一想——AI 说的话不一定都对，就像刚才的“11 个苹果”。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【33:00–34:00 拍手口诀】
节奏：每三个字拍一下手（“AI 好 | 帮手，学习 | 靠自己”），老师先念一遍，再全班一起念两遍，最后一遍越念越快！
AI 好帮手，学习靠自己；
说话要清楚，算数要仔细；
英语学起来，朋友遍天下！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【34:00–35:00 结束】
老师：今天大家都找到了三件法宝，你们都是合格的「AI 小训练师」！
（发贴纸：可以请小组长帮忙，或者下课时站在门口一个一个贴。）
机器人声音：“Bye-bye，一（8）班的小朋友！记得好好学语文、数学、英语，下次我们再见！”
全班挥手：Bye-bye！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9494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0" y="2148840"/>
            <a:ext cx="6217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0" y="3429000"/>
            <a:ext cx="62179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8C4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8C4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0B8"/>
                </a:solidFill>
              </a:rPr>
              <a:t>AI伴我成长 · 一（8）班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8C4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image" Target="../media/image-14-6.png"/><Relationship Id="rId7" Type="http://schemas.openxmlformats.org/officeDocument/2006/relationships/image" Target="../media/image-14-6.png"/><Relationship Id="rId8" Type="http://schemas.openxmlformats.org/officeDocument/2006/relationships/image" Target="../media/image-14-8.png"/><Relationship Id="rId9" Type="http://schemas.openxmlformats.org/officeDocument/2006/relationships/image" Target="../media/image-14-8.png"/><Relationship Id="rId10" Type="http://schemas.openxmlformats.org/officeDocument/2006/relationships/image" Target="../media/image-14-8.png"/><Relationship Id="rId11" Type="http://schemas.openxmlformats.org/officeDocument/2006/relationships/image" Target="../media/image-14-8.png"/><Relationship Id="rId12" Type="http://schemas.openxmlformats.org/officeDocument/2006/relationships/image" Target="../media/image-14-8.png"/><Relationship Id="rId13" Type="http://schemas.openxmlformats.org/officeDocument/2006/relationships/image" Target="../media/image-14-8.png"/><Relationship Id="rId14" Type="http://schemas.openxmlformats.org/officeDocument/2006/relationships/image" Target="../media/image-14-8.png"/><Relationship Id="rId15" Type="http://schemas.openxmlformats.org/officeDocument/2006/relationships/image" Target="../media/image-14-15.png"/><Relationship Id="rId16" Type="http://schemas.openxmlformats.org/officeDocument/2006/relationships/slideLayout" Target="../slideLayouts/slideLayout5.xml"/><Relationship Id="rId1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6.png"/><Relationship Id="rId7" Type="http://schemas.openxmlformats.org/officeDocument/2006/relationships/image" Target="../media/image-15-6.png"/><Relationship Id="rId8" Type="http://schemas.openxmlformats.org/officeDocument/2006/relationships/image" Target="../media/image-15-8.png"/><Relationship Id="rId9" Type="http://schemas.openxmlformats.org/officeDocument/2006/relationships/image" Target="../media/image-15-8.png"/><Relationship Id="rId10" Type="http://schemas.openxmlformats.org/officeDocument/2006/relationships/image" Target="../media/image-15-8.png"/><Relationship Id="rId11" Type="http://schemas.openxmlformats.org/officeDocument/2006/relationships/image" Target="../media/image-15-8.png"/><Relationship Id="rId12" Type="http://schemas.openxmlformats.org/officeDocument/2006/relationships/image" Target="../media/image-15-8.png"/><Relationship Id="rId13" Type="http://schemas.openxmlformats.org/officeDocument/2006/relationships/image" Target="../media/image-15-8.png"/><Relationship Id="rId14" Type="http://schemas.openxmlformats.org/officeDocument/2006/relationships/image" Target="../media/image-15-8.png"/><Relationship Id="rId15" Type="http://schemas.openxmlformats.org/officeDocument/2006/relationships/image" Target="../media/image-15-15.png"/><Relationship Id="rId16" Type="http://schemas.openxmlformats.org/officeDocument/2006/relationships/slideLayout" Target="../slideLayouts/slideLayout5.xml"/><Relationship Id="rId1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2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2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2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2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image" Target="../media/image-22-1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5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AI伴我成长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建平实验小学 一（8）班</a:t>
            </a:r>
            <a:endParaRPr lang="en-US" sz="2800" dirty="0"/>
          </a:p>
        </p:txBody>
      </p:sp>
      <p:sp>
        <p:nvSpPr>
          <p:cNvPr id="4" name="pill-1"/>
          <p:cNvSpPr/>
          <p:nvPr/>
        </p:nvSpPr>
        <p:spPr>
          <a:xfrm>
            <a:off x="731520" y="4434840"/>
            <a:ext cx="1783080" cy="685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5" name="emoji-books-2" descr="boo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544568"/>
            <a:ext cx="457200" cy="457200"/>
          </a:xfrm>
          <a:prstGeom prst="rect">
            <a:avLst/>
          </a:prstGeom>
        </p:spPr>
      </p:pic>
      <p:sp>
        <p:nvSpPr>
          <p:cNvPr id="6" name="text-3"/>
          <p:cNvSpPr txBox="1"/>
          <p:nvPr/>
        </p:nvSpPr>
        <p:spPr>
          <a:xfrm>
            <a:off x="1417320" y="44348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语文</a:t>
            </a:r>
            <a:endParaRPr lang="en-US" sz="2400" dirty="0"/>
          </a:p>
        </p:txBody>
      </p:sp>
      <p:sp>
        <p:nvSpPr>
          <p:cNvPr id="7" name="pill-4"/>
          <p:cNvSpPr/>
          <p:nvPr/>
        </p:nvSpPr>
        <p:spPr>
          <a:xfrm>
            <a:off x="2697480" y="4434840"/>
            <a:ext cx="1783080" cy="6858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pic>
        <p:nvPicPr>
          <p:cNvPr id="8" name="emoji-numbers-5" descr="numb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44568"/>
            <a:ext cx="457200" cy="457200"/>
          </a:xfrm>
          <a:prstGeom prst="rect">
            <a:avLst/>
          </a:prstGeom>
        </p:spPr>
      </p:pic>
      <p:sp>
        <p:nvSpPr>
          <p:cNvPr id="9" name="text-6"/>
          <p:cNvSpPr txBox="1"/>
          <p:nvPr/>
        </p:nvSpPr>
        <p:spPr>
          <a:xfrm>
            <a:off x="3383280" y="44348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数学</a:t>
            </a:r>
            <a:endParaRPr lang="en-US" sz="2400" dirty="0"/>
          </a:p>
        </p:txBody>
      </p:sp>
      <p:sp>
        <p:nvSpPr>
          <p:cNvPr id="10" name="pill-7"/>
          <p:cNvSpPr/>
          <p:nvPr/>
        </p:nvSpPr>
        <p:spPr>
          <a:xfrm>
            <a:off x="4663440" y="4434840"/>
            <a:ext cx="1783080" cy="685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pic>
        <p:nvPicPr>
          <p:cNvPr id="11" name="emoji-abc-8" descr="ab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44568"/>
            <a:ext cx="457200" cy="457200"/>
          </a:xfrm>
          <a:prstGeom prst="rect">
            <a:avLst/>
          </a:prstGeom>
        </p:spPr>
      </p:pic>
      <p:sp>
        <p:nvSpPr>
          <p:cNvPr id="12" name="text-9"/>
          <p:cNvSpPr txBox="1"/>
          <p:nvPr/>
        </p:nvSpPr>
        <p:spPr>
          <a:xfrm>
            <a:off x="5349240" y="44348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英语</a:t>
            </a:r>
            <a:endParaRPr lang="en-US" sz="2400" dirty="0"/>
          </a:p>
        </p:txBody>
      </p:sp>
      <p:sp>
        <p:nvSpPr>
          <p:cNvPr id="13" name="circle-10"/>
          <p:cNvSpPr/>
          <p:nvPr/>
        </p:nvSpPr>
        <p:spPr>
          <a:xfrm>
            <a:off x="6858000" y="822960"/>
            <a:ext cx="4937760" cy="4937760"/>
          </a:xfrm>
          <a:prstGeom prst="ellipse">
            <a:avLst/>
          </a:prstGeom>
          <a:solidFill>
            <a:schemeClr val="accent5">
              <a:alpha val="45000"/>
            </a:schemeClr>
          </a:solidFill>
          <a:ln/>
        </p:spPr>
      </p:sp>
      <p:pic>
        <p:nvPicPr>
          <p:cNvPr id="14" name="robot-11" descr="机器人小智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097280"/>
            <a:ext cx="3541542" cy="4846320"/>
          </a:xfrm>
          <a:prstGeom prst="rect">
            <a:avLst/>
          </a:prstGeom>
        </p:spPr>
      </p:pic>
      <p:pic>
        <p:nvPicPr>
          <p:cNvPr id="15" name="emoji-sparkles-12" descr="spark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640080"/>
            <a:ext cx="914400" cy="914400"/>
          </a:xfrm>
          <a:prstGeom prst="rect">
            <a:avLst/>
          </a:prstGeom>
        </p:spPr>
      </p:pic>
      <p:pic>
        <p:nvPicPr>
          <p:cNvPr id="16" name="emoji-star-13" descr="st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51206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猜猜我是谁？</a:t>
            </a:r>
            <a:endParaRPr lang="en-US" sz="4000" dirty="0"/>
          </a:p>
        </p:txBody>
      </p:sp>
      <p:sp>
        <p:nvSpPr>
          <p:cNvPr id="3" name="card-14"/>
          <p:cNvSpPr/>
          <p:nvPr/>
        </p:nvSpPr>
        <p:spPr>
          <a:xfrm>
            <a:off x="548640" y="1508760"/>
            <a:ext cx="7223760" cy="1188720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4" name="circle-15"/>
          <p:cNvSpPr/>
          <p:nvPr/>
        </p:nvSpPr>
        <p:spPr>
          <a:xfrm>
            <a:off x="731520" y="1645920"/>
            <a:ext cx="914400" cy="91440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pic>
        <p:nvPicPr>
          <p:cNvPr id="5" name="emoji-speak-16" descr="spea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566928" cy="566928"/>
          </a:xfrm>
          <a:prstGeom prst="rect">
            <a:avLst/>
          </a:prstGeom>
        </p:spPr>
      </p:pic>
      <p:sp>
        <p:nvSpPr>
          <p:cNvPr id="6" name="text-17"/>
          <p:cNvSpPr txBox="1"/>
          <p:nvPr/>
        </p:nvSpPr>
        <p:spPr>
          <a:xfrm>
            <a:off x="1874520" y="150876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我没有嘴巴，却会说话</a:t>
            </a:r>
            <a:endParaRPr lang="en-US" sz="3000" dirty="0"/>
          </a:p>
        </p:txBody>
      </p:sp>
      <p:sp>
        <p:nvSpPr>
          <p:cNvPr id="7" name="card-18"/>
          <p:cNvSpPr/>
          <p:nvPr/>
        </p:nvSpPr>
        <p:spPr>
          <a:xfrm>
            <a:off x="548640" y="2971800"/>
            <a:ext cx="7223760" cy="1188720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8" name="circle-19"/>
          <p:cNvSpPr/>
          <p:nvPr/>
        </p:nvSpPr>
        <p:spPr>
          <a:xfrm>
            <a:off x="731520" y="3108960"/>
            <a:ext cx="914400" cy="914400"/>
          </a:xfrm>
          <a:prstGeom prst="ellipse">
            <a:avLst/>
          </a:prstGeom>
          <a:solidFill>
            <a:schemeClr val="accent3">
              <a:alpha val="25000"/>
            </a:schemeClr>
          </a:solidFill>
          <a:ln/>
        </p:spPr>
      </p:sp>
      <p:pic>
        <p:nvPicPr>
          <p:cNvPr id="9" name="emoji-palette-20" descr="pale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282696"/>
            <a:ext cx="566928" cy="566928"/>
          </a:xfrm>
          <a:prstGeom prst="rect">
            <a:avLst/>
          </a:prstGeom>
        </p:spPr>
      </p:pic>
      <p:sp>
        <p:nvSpPr>
          <p:cNvPr id="10" name="text-21"/>
          <p:cNvSpPr txBox="1"/>
          <p:nvPr/>
        </p:nvSpPr>
        <p:spPr>
          <a:xfrm>
            <a:off x="1874520" y="29718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我没有小手，却会画画</a:t>
            </a:r>
            <a:endParaRPr lang="en-US" sz="3000" dirty="0"/>
          </a:p>
        </p:txBody>
      </p:sp>
      <p:sp>
        <p:nvSpPr>
          <p:cNvPr id="11" name="card-22"/>
          <p:cNvSpPr/>
          <p:nvPr/>
        </p:nvSpPr>
        <p:spPr>
          <a:xfrm>
            <a:off x="548640" y="4434840"/>
            <a:ext cx="7223760" cy="1188720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2" name="circle-23"/>
          <p:cNvSpPr/>
          <p:nvPr/>
        </p:nvSpPr>
        <p:spPr>
          <a:xfrm>
            <a:off x="731520" y="4572000"/>
            <a:ext cx="914400" cy="914400"/>
          </a:xfrm>
          <a:prstGeom prst="ellipse">
            <a:avLst/>
          </a:prstGeom>
          <a:solidFill>
            <a:schemeClr val="accent4">
              <a:alpha val="25000"/>
            </a:schemeClr>
          </a:solidFill>
          <a:ln/>
        </p:spPr>
      </p:sp>
      <p:pic>
        <p:nvPicPr>
          <p:cNvPr id="13" name="emoji-books-24" descr="boo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745736"/>
            <a:ext cx="566928" cy="566928"/>
          </a:xfrm>
          <a:prstGeom prst="rect">
            <a:avLst/>
          </a:prstGeom>
        </p:spPr>
      </p:pic>
      <p:sp>
        <p:nvSpPr>
          <p:cNvPr id="14" name="text-25"/>
          <p:cNvSpPr txBox="1"/>
          <p:nvPr/>
        </p:nvSpPr>
        <p:spPr>
          <a:xfrm>
            <a:off x="1874520" y="4434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我不用上学，却认识好多好多字</a:t>
            </a:r>
            <a:endParaRPr lang="en-US" sz="3000" dirty="0"/>
          </a:p>
        </p:txBody>
      </p:sp>
      <p:sp>
        <p:nvSpPr>
          <p:cNvPr id="15" name="card-26"/>
          <p:cNvSpPr/>
          <p:nvPr/>
        </p:nvSpPr>
        <p:spPr>
          <a:xfrm>
            <a:off x="8229600" y="1508760"/>
            <a:ext cx="3383280" cy="4114800"/>
          </a:xfrm>
          <a:prstGeom prst="roundRect">
            <a:avLst>
              <a:gd name="adj" fmla="val 6757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16" name="emoji-question-27" descr="ques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828800"/>
            <a:ext cx="1828800" cy="1828800"/>
          </a:xfrm>
          <a:prstGeom prst="rect">
            <a:avLst/>
          </a:prstGeom>
        </p:spPr>
      </p:pic>
      <p:sp>
        <p:nvSpPr>
          <p:cNvPr id="17" name="text-28"/>
          <p:cNvSpPr txBox="1"/>
          <p:nvPr/>
        </p:nvSpPr>
        <p:spPr>
          <a:xfrm>
            <a:off x="8229600" y="3977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举手猜一猜！</a:t>
            </a:r>
            <a:endParaRPr lang="en-US" sz="3000" dirty="0"/>
          </a:p>
        </p:txBody>
      </p:sp>
      <p:sp>
        <p:nvSpPr>
          <p:cNvPr id="18" name="text-29"/>
          <p:cNvSpPr txBox="1"/>
          <p:nvPr/>
        </p:nvSpPr>
        <p:spPr>
          <a:xfrm>
            <a:off x="8229600" y="4663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4DAFF"/>
                </a:solidFill>
              </a:rPr>
              <a:t>它就藏在下一页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揭晓答案！</a:t>
            </a:r>
            <a:endParaRPr lang="en-US" sz="4400" dirty="0"/>
          </a:p>
        </p:txBody>
      </p:sp>
      <p:sp>
        <p:nvSpPr>
          <p:cNvPr id="3" name="text-30"/>
          <p:cNvSpPr txBox="1"/>
          <p:nvPr/>
        </p:nvSpPr>
        <p:spPr>
          <a:xfrm>
            <a:off x="548640" y="13716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8000" dirty="0"/>
          </a:p>
        </p:txBody>
      </p:sp>
      <p:sp>
        <p:nvSpPr>
          <p:cNvPr id="4" name="text-31"/>
          <p:cNvSpPr txBox="1"/>
          <p:nvPr/>
        </p:nvSpPr>
        <p:spPr>
          <a:xfrm>
            <a:off x="548640" y="3749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人工智能</a:t>
            </a:r>
            <a:endParaRPr lang="en-US" sz="4400" dirty="0"/>
          </a:p>
        </p:txBody>
      </p:sp>
      <p:sp>
        <p:nvSpPr>
          <p:cNvPr id="5" name="text-32"/>
          <p:cNvSpPr txBox="1"/>
          <p:nvPr/>
        </p:nvSpPr>
        <p:spPr>
          <a:xfrm>
            <a:off x="548640" y="4572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D2F5"/>
                </a:solidFill>
              </a:rPr>
              <a:t>一个会学习的“电脑大脑”</a:t>
            </a:r>
            <a:endParaRPr lang="en-US" sz="2400" dirty="0"/>
          </a:p>
        </p:txBody>
      </p:sp>
      <p:sp>
        <p:nvSpPr>
          <p:cNvPr id="6" name="pill-33"/>
          <p:cNvSpPr/>
          <p:nvPr/>
        </p:nvSpPr>
        <p:spPr>
          <a:xfrm>
            <a:off x="548640" y="5349240"/>
            <a:ext cx="5120640" cy="777240"/>
          </a:xfrm>
          <a:prstGeom prst="roundRect">
            <a:avLst>
              <a:gd name="adj" fmla="val 49412"/>
            </a:avLst>
          </a:prstGeom>
          <a:solidFill>
            <a:schemeClr val="accent5"/>
          </a:solidFill>
          <a:ln/>
        </p:spPr>
      </p:sp>
      <p:sp>
        <p:nvSpPr>
          <p:cNvPr id="7" name="text-34"/>
          <p:cNvSpPr txBox="1"/>
          <p:nvPr/>
        </p:nvSpPr>
        <p:spPr>
          <a:xfrm>
            <a:off x="777240" y="53492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跟我读：A～ I～ （做机器人动作）</a:t>
            </a:r>
            <a:endParaRPr lang="en-US" sz="2200" dirty="0"/>
          </a:p>
        </p:txBody>
      </p:sp>
      <p:pic>
        <p:nvPicPr>
          <p:cNvPr id="8" name="robot-35" descr="机器人小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463040"/>
            <a:ext cx="3474720" cy="4754880"/>
          </a:xfrm>
          <a:prstGeom prst="rect">
            <a:avLst/>
          </a:prstGeom>
        </p:spPr>
      </p:pic>
      <p:sp>
        <p:nvSpPr>
          <p:cNvPr id="9" name="bubble-tail-36"/>
          <p:cNvSpPr/>
          <p:nvPr/>
        </p:nvSpPr>
        <p:spPr>
          <a:xfrm rot="5400000">
            <a:off x="8723376" y="2350008"/>
            <a:ext cx="329184" cy="329184"/>
          </a:xfrm>
          <a:prstGeom prst="triangle">
            <a:avLst/>
          </a:prstGeom>
          <a:solidFill>
            <a:schemeClr val="bg1"/>
          </a:solidFill>
          <a:ln/>
        </p:spPr>
      </p:sp>
      <p:sp>
        <p:nvSpPr>
          <p:cNvPr id="10" name="bubble-37"/>
          <p:cNvSpPr/>
          <p:nvPr/>
        </p:nvSpPr>
        <p:spPr>
          <a:xfrm>
            <a:off x="5760720" y="1828800"/>
            <a:ext cx="3017520" cy="13716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</p:sp>
      <p:sp>
        <p:nvSpPr>
          <p:cNvPr id="11" name="text-38"/>
          <p:cNvSpPr txBox="1"/>
          <p:nvPr/>
        </p:nvSpPr>
        <p:spPr>
          <a:xfrm>
            <a:off x="5989320" y="18288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大家好！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我叫“小智”！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8C4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AI 就在我们身边</a:t>
            </a:r>
            <a:endParaRPr lang="en-US" sz="4000" dirty="0"/>
          </a:p>
        </p:txBody>
      </p:sp>
      <p:sp>
        <p:nvSpPr>
          <p:cNvPr id="3" name="card-39"/>
          <p:cNvSpPr/>
          <p:nvPr/>
        </p:nvSpPr>
        <p:spPr>
          <a:xfrm>
            <a:off x="548640" y="1463040"/>
            <a:ext cx="2560320" cy="3383280"/>
          </a:xfrm>
          <a:prstGeom prst="roundRect">
            <a:avLst>
              <a:gd name="adj" fmla="val 89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4" name="circle-40"/>
          <p:cNvSpPr/>
          <p:nvPr/>
        </p:nvSpPr>
        <p:spPr>
          <a:xfrm>
            <a:off x="1097280" y="1691640"/>
            <a:ext cx="1463040" cy="1463040"/>
          </a:xfrm>
          <a:prstGeom prst="ellipse">
            <a:avLst/>
          </a:prstGeom>
          <a:solidFill>
            <a:schemeClr val="accent5">
              <a:alpha val="22000"/>
            </a:schemeClr>
          </a:solidFill>
          <a:ln/>
        </p:spPr>
      </p:sp>
      <p:pic>
        <p:nvPicPr>
          <p:cNvPr id="5" name="emoji-speaker-41" descr="spea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258" y="1969618"/>
            <a:ext cx="907085" cy="907085"/>
          </a:xfrm>
          <a:prstGeom prst="rect">
            <a:avLst/>
          </a:prstGeom>
        </p:spPr>
      </p:pic>
      <p:sp>
        <p:nvSpPr>
          <p:cNvPr id="6" name="text-42"/>
          <p:cNvSpPr txBox="1"/>
          <p:nvPr/>
        </p:nvSpPr>
        <p:spPr>
          <a:xfrm>
            <a:off x="54864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智能音箱</a:t>
            </a:r>
            <a:endParaRPr lang="en-US" sz="2800" dirty="0"/>
          </a:p>
        </p:txBody>
      </p:sp>
      <p:sp>
        <p:nvSpPr>
          <p:cNvPr id="7" name="text-43"/>
          <p:cNvSpPr txBox="1"/>
          <p:nvPr/>
        </p:nvSpPr>
        <p:spPr>
          <a:xfrm>
            <a:off x="685800" y="3840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“小爱同学，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讲个故事！”</a:t>
            </a:r>
            <a:endParaRPr lang="en-US" sz="1800" dirty="0"/>
          </a:p>
        </p:txBody>
      </p:sp>
      <p:sp>
        <p:nvSpPr>
          <p:cNvPr id="8" name="card-44"/>
          <p:cNvSpPr/>
          <p:nvPr/>
        </p:nvSpPr>
        <p:spPr>
          <a:xfrm>
            <a:off x="3383280" y="1463040"/>
            <a:ext cx="2560320" cy="3383280"/>
          </a:xfrm>
          <a:prstGeom prst="roundRect">
            <a:avLst>
              <a:gd name="adj" fmla="val 89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9" name="circle-45"/>
          <p:cNvSpPr/>
          <p:nvPr/>
        </p:nvSpPr>
        <p:spPr>
          <a:xfrm>
            <a:off x="3931920" y="1691640"/>
            <a:ext cx="1463040" cy="1463040"/>
          </a:xfrm>
          <a:prstGeom prst="ellipse">
            <a:avLst/>
          </a:prstGeom>
          <a:solidFill>
            <a:schemeClr val="accent6">
              <a:alpha val="22000"/>
            </a:schemeClr>
          </a:solidFill>
          <a:ln/>
        </p:spPr>
      </p:sp>
      <p:pic>
        <p:nvPicPr>
          <p:cNvPr id="10" name="emoji-broom-46" descr="bro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898" y="1969618"/>
            <a:ext cx="907085" cy="907085"/>
          </a:xfrm>
          <a:prstGeom prst="rect">
            <a:avLst/>
          </a:prstGeom>
        </p:spPr>
      </p:pic>
      <p:sp>
        <p:nvSpPr>
          <p:cNvPr id="11" name="text-47"/>
          <p:cNvSpPr txBox="1"/>
          <p:nvPr/>
        </p:nvSpPr>
        <p:spPr>
          <a:xfrm>
            <a:off x="338328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扫地机器人</a:t>
            </a:r>
            <a:endParaRPr lang="en-US" sz="2800" dirty="0"/>
          </a:p>
        </p:txBody>
      </p:sp>
      <p:sp>
        <p:nvSpPr>
          <p:cNvPr id="12" name="text-48"/>
          <p:cNvSpPr txBox="1"/>
          <p:nvPr/>
        </p:nvSpPr>
        <p:spPr>
          <a:xfrm>
            <a:off x="3520440" y="3840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自己把地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扫干净</a:t>
            </a:r>
            <a:endParaRPr lang="en-US" sz="1800" dirty="0"/>
          </a:p>
        </p:txBody>
      </p:sp>
      <p:sp>
        <p:nvSpPr>
          <p:cNvPr id="13" name="card-49"/>
          <p:cNvSpPr/>
          <p:nvPr/>
        </p:nvSpPr>
        <p:spPr>
          <a:xfrm>
            <a:off x="6217920" y="1463040"/>
            <a:ext cx="2560320" cy="3383280"/>
          </a:xfrm>
          <a:prstGeom prst="roundRect">
            <a:avLst>
              <a:gd name="adj" fmla="val 89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4" name="circle-50"/>
          <p:cNvSpPr/>
          <p:nvPr/>
        </p:nvSpPr>
        <p:spPr>
          <a:xfrm>
            <a:off x="6766560" y="1691640"/>
            <a:ext cx="1463040" cy="1463040"/>
          </a:xfrm>
          <a:prstGeom prst="ellipse">
            <a:avLst/>
          </a:prstGeom>
          <a:solidFill>
            <a:schemeClr val="accent4">
              <a:alpha val="22000"/>
            </a:schemeClr>
          </a:solidFill>
          <a:ln/>
        </p:spPr>
      </p:sp>
      <p:pic>
        <p:nvPicPr>
          <p:cNvPr id="15" name="emoji-camera-51" descr="came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538" y="1969618"/>
            <a:ext cx="907085" cy="907085"/>
          </a:xfrm>
          <a:prstGeom prst="rect">
            <a:avLst/>
          </a:prstGeom>
        </p:spPr>
      </p:pic>
      <p:sp>
        <p:nvSpPr>
          <p:cNvPr id="16" name="text-52"/>
          <p:cNvSpPr txBox="1"/>
          <p:nvPr/>
        </p:nvSpPr>
        <p:spPr>
          <a:xfrm>
            <a:off x="621792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拍照识花</a:t>
            </a:r>
            <a:endParaRPr lang="en-US" sz="2800" dirty="0"/>
          </a:p>
        </p:txBody>
      </p:sp>
      <p:sp>
        <p:nvSpPr>
          <p:cNvPr id="17" name="text-53"/>
          <p:cNvSpPr txBox="1"/>
          <p:nvPr/>
        </p:nvSpPr>
        <p:spPr>
          <a:xfrm>
            <a:off x="6355080" y="3840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拍一拍，就知道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花叫什么名字</a:t>
            </a:r>
            <a:endParaRPr lang="en-US" sz="1800" dirty="0"/>
          </a:p>
        </p:txBody>
      </p:sp>
      <p:sp>
        <p:nvSpPr>
          <p:cNvPr id="18" name="card-54"/>
          <p:cNvSpPr/>
          <p:nvPr/>
        </p:nvSpPr>
        <p:spPr>
          <a:xfrm>
            <a:off x="9052560" y="1463040"/>
            <a:ext cx="2560320" cy="3383280"/>
          </a:xfrm>
          <a:prstGeom prst="roundRect">
            <a:avLst>
              <a:gd name="adj" fmla="val 89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9" name="circle-55"/>
          <p:cNvSpPr/>
          <p:nvPr/>
        </p:nvSpPr>
        <p:spPr>
          <a:xfrm>
            <a:off x="9601200" y="1691640"/>
            <a:ext cx="1463040" cy="1463040"/>
          </a:xfrm>
          <a:prstGeom prst="ellipse">
            <a:avLst/>
          </a:prstGeom>
          <a:solidFill>
            <a:schemeClr val="accent3">
              <a:alpha val="22000"/>
            </a:schemeClr>
          </a:solidFill>
          <a:ln/>
        </p:spPr>
      </p:sp>
      <p:pic>
        <p:nvPicPr>
          <p:cNvPr id="20" name="emoji-map-56" descr="m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9178" y="1969618"/>
            <a:ext cx="907085" cy="907085"/>
          </a:xfrm>
          <a:prstGeom prst="rect">
            <a:avLst/>
          </a:prstGeom>
        </p:spPr>
      </p:pic>
      <p:sp>
        <p:nvSpPr>
          <p:cNvPr id="21" name="text-57"/>
          <p:cNvSpPr txBox="1"/>
          <p:nvPr/>
        </p:nvSpPr>
        <p:spPr>
          <a:xfrm>
            <a:off x="905256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地图导航</a:t>
            </a:r>
            <a:endParaRPr lang="en-US" sz="2800" dirty="0"/>
          </a:p>
        </p:txBody>
      </p:sp>
      <p:sp>
        <p:nvSpPr>
          <p:cNvPr id="22" name="text-58"/>
          <p:cNvSpPr txBox="1"/>
          <p:nvPr/>
        </p:nvSpPr>
        <p:spPr>
          <a:xfrm>
            <a:off x="9189720" y="3840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“前方路口，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请右转！”</a:t>
            </a:r>
            <a:endParaRPr lang="en-US" sz="1800" dirty="0"/>
          </a:p>
        </p:txBody>
      </p:sp>
      <p:pic>
        <p:nvPicPr>
          <p:cNvPr id="23" name="robot-59" descr="机器人小智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983480"/>
            <a:ext cx="935502" cy="1280160"/>
          </a:xfrm>
          <a:prstGeom prst="rect">
            <a:avLst/>
          </a:prstGeom>
        </p:spPr>
      </p:pic>
      <p:sp>
        <p:nvSpPr>
          <p:cNvPr id="24" name="bubble-tail-60"/>
          <p:cNvSpPr/>
          <p:nvPr/>
        </p:nvSpPr>
        <p:spPr>
          <a:xfrm rot="16200000">
            <a:off x="1645920" y="5436108"/>
            <a:ext cx="329184" cy="329184"/>
          </a:xfrm>
          <a:prstGeom prst="triangle">
            <a:avLst/>
          </a:prstGeom>
          <a:solidFill>
            <a:schemeClr val="bg1"/>
          </a:solidFill>
          <a:ln/>
        </p:spPr>
      </p:sp>
      <p:sp>
        <p:nvSpPr>
          <p:cNvPr id="25" name="bubble-61"/>
          <p:cNvSpPr/>
          <p:nvPr/>
        </p:nvSpPr>
        <p:spPr>
          <a:xfrm>
            <a:off x="1920240" y="5166360"/>
            <a:ext cx="6583680" cy="868680"/>
          </a:xfrm>
          <a:prstGeom prst="roundRect">
            <a:avLst>
              <a:gd name="adj" fmla="val 31579"/>
            </a:avLst>
          </a:prstGeom>
          <a:solidFill>
            <a:schemeClr val="bg1"/>
          </a:solidFill>
          <a:ln/>
        </p:spPr>
      </p:sp>
      <p:sp>
        <p:nvSpPr>
          <p:cNvPr id="26" name="text-62"/>
          <p:cNvSpPr txBox="1"/>
          <p:nvPr/>
        </p:nvSpPr>
        <p:spPr>
          <a:xfrm>
            <a:off x="2148840" y="516636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你家里有哪一个？有的小朋友请举手！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游戏：AI 能不能？</a:t>
            </a:r>
            <a:endParaRPr lang="en-US" sz="4000" dirty="0"/>
          </a:p>
        </p:txBody>
      </p:sp>
      <p:sp>
        <p:nvSpPr>
          <p:cNvPr id="3" name="card-63"/>
          <p:cNvSpPr/>
          <p:nvPr/>
        </p:nvSpPr>
        <p:spPr>
          <a:xfrm>
            <a:off x="548640" y="1463040"/>
            <a:ext cx="3749040" cy="4572000"/>
          </a:xfrm>
          <a:prstGeom prst="roundRect">
            <a:avLst>
              <a:gd name="adj" fmla="val 609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4" name="text-64"/>
          <p:cNvSpPr txBox="1"/>
          <p:nvPr/>
        </p:nvSpPr>
        <p:spPr>
          <a:xfrm>
            <a:off x="82296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听题，用身体回答！</a:t>
            </a:r>
            <a:endParaRPr lang="en-US" sz="2400" dirty="0"/>
          </a:p>
        </p:txBody>
      </p:sp>
      <p:sp>
        <p:nvSpPr>
          <p:cNvPr id="5" name="text-65"/>
          <p:cNvSpPr txBox="1"/>
          <p:nvPr/>
        </p:nvSpPr>
        <p:spPr>
          <a:xfrm>
            <a:off x="822960" y="2423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⭕</a:t>
            </a:r>
            <a:endParaRPr lang="en-US" sz="6600" dirty="0"/>
          </a:p>
        </p:txBody>
      </p:sp>
      <p:sp>
        <p:nvSpPr>
          <p:cNvPr id="6" name="text-66"/>
          <p:cNvSpPr txBox="1"/>
          <p:nvPr/>
        </p:nvSpPr>
        <p:spPr>
          <a:xfrm>
            <a:off x="2011680" y="23317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能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双手举过头顶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比个大圆圈</a:t>
            </a:r>
            <a:endParaRPr lang="en-US" sz="2000" dirty="0"/>
          </a:p>
        </p:txBody>
      </p:sp>
      <p:sp>
        <p:nvSpPr>
          <p:cNvPr id="7" name="text-67"/>
          <p:cNvSpPr txBox="1"/>
          <p:nvPr/>
        </p:nvSpPr>
        <p:spPr>
          <a:xfrm>
            <a:off x="822960" y="4160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6600" dirty="0"/>
          </a:p>
        </p:txBody>
      </p:sp>
      <p:sp>
        <p:nvSpPr>
          <p:cNvPr id="8" name="text-68"/>
          <p:cNvSpPr txBox="1"/>
          <p:nvPr/>
        </p:nvSpPr>
        <p:spPr>
          <a:xfrm>
            <a:off x="2011680" y="4069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不能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双手在胸前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打个大叉叉</a:t>
            </a:r>
            <a:endParaRPr lang="en-US" sz="2000" dirty="0"/>
          </a:p>
        </p:txBody>
      </p:sp>
      <p:sp>
        <p:nvSpPr>
          <p:cNvPr id="9" name="card-69"/>
          <p:cNvSpPr/>
          <p:nvPr/>
        </p:nvSpPr>
        <p:spPr>
          <a:xfrm>
            <a:off x="4617720" y="1463040"/>
            <a:ext cx="333756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0" name="circle-70"/>
          <p:cNvSpPr/>
          <p:nvPr/>
        </p:nvSpPr>
        <p:spPr>
          <a:xfrm>
            <a:off x="4800600" y="1737360"/>
            <a:ext cx="868680" cy="868680"/>
          </a:xfrm>
          <a:prstGeom prst="ellipse">
            <a:avLst/>
          </a:prstGeom>
          <a:solidFill>
            <a:schemeClr val="accent4">
              <a:alpha val="25000"/>
            </a:schemeClr>
          </a:solidFill>
          <a:ln/>
        </p:spPr>
      </p:sp>
      <p:pic>
        <p:nvPicPr>
          <p:cNvPr id="11" name="emoji-dino-71" descr="di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649" y="1902409"/>
            <a:ext cx="538582" cy="538582"/>
          </a:xfrm>
          <a:prstGeom prst="rect">
            <a:avLst/>
          </a:prstGeom>
        </p:spPr>
      </p:pic>
      <p:sp>
        <p:nvSpPr>
          <p:cNvPr id="12" name="text-72"/>
          <p:cNvSpPr txBox="1"/>
          <p:nvPr/>
        </p:nvSpPr>
        <p:spPr>
          <a:xfrm>
            <a:off x="4800600" y="2880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0B8"/>
                </a:solidFill>
              </a:rPr>
              <a:t>1</a:t>
            </a:r>
            <a:endParaRPr lang="en-US" sz="2600" dirty="0"/>
          </a:p>
        </p:txBody>
      </p:sp>
      <p:sp>
        <p:nvSpPr>
          <p:cNvPr id="13" name="text-73"/>
          <p:cNvSpPr txBox="1"/>
          <p:nvPr/>
        </p:nvSpPr>
        <p:spPr>
          <a:xfrm>
            <a:off x="580644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能画一只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穿西装的恐龙吗？</a:t>
            </a:r>
            <a:endParaRPr lang="en-US" sz="2000" dirty="0"/>
          </a:p>
        </p:txBody>
      </p:sp>
      <p:sp>
        <p:nvSpPr>
          <p:cNvPr id="14" name="card-74"/>
          <p:cNvSpPr/>
          <p:nvPr/>
        </p:nvSpPr>
        <p:spPr>
          <a:xfrm>
            <a:off x="8229600" y="1463040"/>
            <a:ext cx="333756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5" name="circle-75"/>
          <p:cNvSpPr/>
          <p:nvPr/>
        </p:nvSpPr>
        <p:spPr>
          <a:xfrm>
            <a:off x="8412480" y="1737360"/>
            <a:ext cx="868680" cy="86868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pic>
        <p:nvPicPr>
          <p:cNvPr id="16" name="emoji-herb-76" descr="her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529" y="1902409"/>
            <a:ext cx="538582" cy="538582"/>
          </a:xfrm>
          <a:prstGeom prst="rect">
            <a:avLst/>
          </a:prstGeom>
        </p:spPr>
      </p:pic>
      <p:sp>
        <p:nvSpPr>
          <p:cNvPr id="17" name="text-77"/>
          <p:cNvSpPr txBox="1"/>
          <p:nvPr/>
        </p:nvSpPr>
        <p:spPr>
          <a:xfrm>
            <a:off x="8412480" y="2880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0B8"/>
                </a:solidFill>
              </a:rPr>
              <a:t>2</a:t>
            </a:r>
            <a:endParaRPr lang="en-US" sz="2600" dirty="0"/>
          </a:p>
        </p:txBody>
      </p:sp>
      <p:sp>
        <p:nvSpPr>
          <p:cNvPr id="18" name="text-78"/>
          <p:cNvSpPr txBox="1"/>
          <p:nvPr/>
        </p:nvSpPr>
        <p:spPr>
          <a:xfrm>
            <a:off x="941832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能帮你把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青菜吃掉吗？</a:t>
            </a:r>
            <a:endParaRPr lang="en-US" sz="2000" dirty="0"/>
          </a:p>
        </p:txBody>
      </p:sp>
      <p:sp>
        <p:nvSpPr>
          <p:cNvPr id="19" name="card-79"/>
          <p:cNvSpPr/>
          <p:nvPr/>
        </p:nvSpPr>
        <p:spPr>
          <a:xfrm>
            <a:off x="4617720" y="3886200"/>
            <a:ext cx="333756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20" name="circle-80"/>
          <p:cNvSpPr/>
          <p:nvPr/>
        </p:nvSpPr>
        <p:spPr>
          <a:xfrm>
            <a:off x="4800600" y="4160520"/>
            <a:ext cx="868680" cy="868680"/>
          </a:xfrm>
          <a:prstGeom prst="ellipse">
            <a:avLst/>
          </a:prstGeom>
          <a:solidFill>
            <a:schemeClr val="accent3">
              <a:alpha val="25000"/>
            </a:schemeClr>
          </a:solidFill>
          <a:ln/>
        </p:spPr>
      </p:sp>
      <p:pic>
        <p:nvPicPr>
          <p:cNvPr id="21" name="emoji-story-81" descr="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649" y="4325569"/>
            <a:ext cx="538582" cy="538582"/>
          </a:xfrm>
          <a:prstGeom prst="rect">
            <a:avLst/>
          </a:prstGeom>
        </p:spPr>
      </p:pic>
      <p:sp>
        <p:nvSpPr>
          <p:cNvPr id="22" name="text-82"/>
          <p:cNvSpPr txBox="1"/>
          <p:nvPr/>
        </p:nvSpPr>
        <p:spPr>
          <a:xfrm>
            <a:off x="4800600" y="53035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0B8"/>
                </a:solidFill>
              </a:rPr>
              <a:t>3</a:t>
            </a:r>
            <a:endParaRPr lang="en-US" sz="2600" dirty="0"/>
          </a:p>
        </p:txBody>
      </p:sp>
      <p:sp>
        <p:nvSpPr>
          <p:cNvPr id="23" name="text-83"/>
          <p:cNvSpPr txBox="1"/>
          <p:nvPr/>
        </p:nvSpPr>
        <p:spPr>
          <a:xfrm>
            <a:off x="5806440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能给你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讲故事吗？</a:t>
            </a:r>
            <a:endParaRPr lang="en-US" sz="2000" dirty="0"/>
          </a:p>
        </p:txBody>
      </p:sp>
      <p:sp>
        <p:nvSpPr>
          <p:cNvPr id="24" name="card-84"/>
          <p:cNvSpPr/>
          <p:nvPr/>
        </p:nvSpPr>
        <p:spPr>
          <a:xfrm>
            <a:off x="8229600" y="3886200"/>
            <a:ext cx="333756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25" name="circle-85"/>
          <p:cNvSpPr/>
          <p:nvPr/>
        </p:nvSpPr>
        <p:spPr>
          <a:xfrm>
            <a:off x="8412480" y="4160520"/>
            <a:ext cx="868680" cy="868680"/>
          </a:xfrm>
          <a:prstGeom prst="ellipse">
            <a:avLst/>
          </a:prstGeom>
          <a:solidFill>
            <a:schemeClr val="accent6">
              <a:alpha val="25000"/>
            </a:schemeClr>
          </a:solidFill>
          <a:ln/>
        </p:spPr>
      </p:sp>
      <p:pic>
        <p:nvPicPr>
          <p:cNvPr id="26" name="emoji-ruler-86" descr="rul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529" y="4325569"/>
            <a:ext cx="538582" cy="538582"/>
          </a:xfrm>
          <a:prstGeom prst="rect">
            <a:avLst/>
          </a:prstGeom>
        </p:spPr>
      </p:pic>
      <p:sp>
        <p:nvSpPr>
          <p:cNvPr id="27" name="text-87"/>
          <p:cNvSpPr txBox="1"/>
          <p:nvPr/>
        </p:nvSpPr>
        <p:spPr>
          <a:xfrm>
            <a:off x="8412480" y="53035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0B8"/>
                </a:solidFill>
              </a:rPr>
              <a:t>4</a:t>
            </a:r>
            <a:endParaRPr lang="en-US" sz="2600" dirty="0"/>
          </a:p>
        </p:txBody>
      </p:sp>
      <p:sp>
        <p:nvSpPr>
          <p:cNvPr id="28" name="text-88"/>
          <p:cNvSpPr txBox="1"/>
          <p:nvPr/>
        </p:nvSpPr>
        <p:spPr>
          <a:xfrm>
            <a:off x="9418320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能帮你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长高吗？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答案揭晓！</a:t>
            </a:r>
            <a:endParaRPr lang="en-US" sz="4000" dirty="0"/>
          </a:p>
        </p:txBody>
      </p:sp>
      <p:sp>
        <p:nvSpPr>
          <p:cNvPr id="3" name="card-89"/>
          <p:cNvSpPr/>
          <p:nvPr/>
        </p:nvSpPr>
        <p:spPr>
          <a:xfrm>
            <a:off x="548640" y="1463040"/>
            <a:ext cx="3749040" cy="4572000"/>
          </a:xfrm>
          <a:prstGeom prst="roundRect">
            <a:avLst>
              <a:gd name="adj" fmla="val 609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4" name="robot-90" descr="机器人小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645920"/>
            <a:ext cx="1670538" cy="2286000"/>
          </a:xfrm>
          <a:prstGeom prst="rect">
            <a:avLst/>
          </a:prstGeom>
        </p:spPr>
      </p:pic>
      <p:sp>
        <p:nvSpPr>
          <p:cNvPr id="5" name="text-91"/>
          <p:cNvSpPr txBox="1"/>
          <p:nvPr/>
        </p:nvSpPr>
        <p:spPr>
          <a:xfrm>
            <a:off x="731520" y="40233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画画、讲故事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我很在行！</a:t>
            </a:r>
            <a:endParaRPr lang="en-US" sz="2200" dirty="0"/>
          </a:p>
        </p:txBody>
      </p:sp>
      <p:sp>
        <p:nvSpPr>
          <p:cNvPr id="6" name="text-92"/>
          <p:cNvSpPr txBox="1"/>
          <p:nvPr/>
        </p:nvSpPr>
        <p:spPr>
          <a:xfrm>
            <a:off x="731520" y="49834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吃饭、长高……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要靠你自己哦！</a:t>
            </a:r>
            <a:endParaRPr lang="en-US" sz="2200" dirty="0"/>
          </a:p>
        </p:txBody>
      </p:sp>
      <p:sp>
        <p:nvSpPr>
          <p:cNvPr id="7" name="card-93"/>
          <p:cNvSpPr/>
          <p:nvPr/>
        </p:nvSpPr>
        <p:spPr>
          <a:xfrm>
            <a:off x="4617720" y="1463040"/>
            <a:ext cx="333756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8" name="circle-94"/>
          <p:cNvSpPr/>
          <p:nvPr/>
        </p:nvSpPr>
        <p:spPr>
          <a:xfrm>
            <a:off x="4800600" y="1737360"/>
            <a:ext cx="868680" cy="868680"/>
          </a:xfrm>
          <a:prstGeom prst="ellipse">
            <a:avLst/>
          </a:prstGeom>
          <a:solidFill>
            <a:schemeClr val="accent4">
              <a:alpha val="25000"/>
            </a:schemeClr>
          </a:solidFill>
          <a:ln/>
        </p:spPr>
      </p:sp>
      <p:pic>
        <p:nvPicPr>
          <p:cNvPr id="9" name="emoji-dino-95" descr="di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649" y="1902409"/>
            <a:ext cx="538582" cy="538582"/>
          </a:xfrm>
          <a:prstGeom prst="rect">
            <a:avLst/>
          </a:prstGeom>
        </p:spPr>
      </p:pic>
      <p:sp>
        <p:nvSpPr>
          <p:cNvPr id="10" name="text-96"/>
          <p:cNvSpPr txBox="1"/>
          <p:nvPr/>
        </p:nvSpPr>
        <p:spPr>
          <a:xfrm>
            <a:off x="4800600" y="2880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0B8"/>
                </a:solidFill>
              </a:rPr>
              <a:t>1</a:t>
            </a:r>
            <a:endParaRPr lang="en-US" sz="2600" dirty="0"/>
          </a:p>
        </p:txBody>
      </p:sp>
      <p:sp>
        <p:nvSpPr>
          <p:cNvPr id="11" name="text-97"/>
          <p:cNvSpPr txBox="1"/>
          <p:nvPr/>
        </p:nvSpPr>
        <p:spPr>
          <a:xfrm>
            <a:off x="580644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能画一只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穿西装的恐龙吗？</a:t>
            </a:r>
            <a:endParaRPr lang="en-US" sz="2000" dirty="0"/>
          </a:p>
        </p:txBody>
      </p:sp>
      <p:sp>
        <p:nvSpPr>
          <p:cNvPr id="12" name="stamp-98"/>
          <p:cNvSpPr/>
          <p:nvPr/>
        </p:nvSpPr>
        <p:spPr>
          <a:xfrm>
            <a:off x="5806440" y="2926080"/>
            <a:ext cx="1737360" cy="5029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3" name="text-99"/>
          <p:cNvSpPr txBox="1"/>
          <p:nvPr/>
        </p:nvSpPr>
        <p:spPr>
          <a:xfrm>
            <a:off x="580644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⭕ 能！</a:t>
            </a:r>
            <a:endParaRPr lang="en-US" sz="2200" dirty="0"/>
          </a:p>
        </p:txBody>
      </p:sp>
      <p:sp>
        <p:nvSpPr>
          <p:cNvPr id="14" name="card-100"/>
          <p:cNvSpPr/>
          <p:nvPr/>
        </p:nvSpPr>
        <p:spPr>
          <a:xfrm>
            <a:off x="8229600" y="1463040"/>
            <a:ext cx="333756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5" name="circle-101"/>
          <p:cNvSpPr/>
          <p:nvPr/>
        </p:nvSpPr>
        <p:spPr>
          <a:xfrm>
            <a:off x="8412480" y="1737360"/>
            <a:ext cx="868680" cy="86868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pic>
        <p:nvPicPr>
          <p:cNvPr id="16" name="emoji-herb-102" descr="her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529" y="1902409"/>
            <a:ext cx="538582" cy="538582"/>
          </a:xfrm>
          <a:prstGeom prst="rect">
            <a:avLst/>
          </a:prstGeom>
        </p:spPr>
      </p:pic>
      <p:sp>
        <p:nvSpPr>
          <p:cNvPr id="17" name="text-103"/>
          <p:cNvSpPr txBox="1"/>
          <p:nvPr/>
        </p:nvSpPr>
        <p:spPr>
          <a:xfrm>
            <a:off x="8412480" y="28803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0B8"/>
                </a:solidFill>
              </a:rPr>
              <a:t>2</a:t>
            </a:r>
            <a:endParaRPr lang="en-US" sz="2600" dirty="0"/>
          </a:p>
        </p:txBody>
      </p:sp>
      <p:sp>
        <p:nvSpPr>
          <p:cNvPr id="18" name="text-104"/>
          <p:cNvSpPr txBox="1"/>
          <p:nvPr/>
        </p:nvSpPr>
        <p:spPr>
          <a:xfrm>
            <a:off x="941832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能帮你把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青菜吃掉吗？</a:t>
            </a:r>
            <a:endParaRPr lang="en-US" sz="2000" dirty="0"/>
          </a:p>
        </p:txBody>
      </p:sp>
      <p:sp>
        <p:nvSpPr>
          <p:cNvPr id="19" name="stamp-105"/>
          <p:cNvSpPr/>
          <p:nvPr/>
        </p:nvSpPr>
        <p:spPr>
          <a:xfrm>
            <a:off x="9418320" y="2926080"/>
            <a:ext cx="1737360" cy="502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0" name="text-106"/>
          <p:cNvSpPr txBox="1"/>
          <p:nvPr/>
        </p:nvSpPr>
        <p:spPr>
          <a:xfrm>
            <a:off x="941832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❌ 不能！</a:t>
            </a:r>
            <a:endParaRPr lang="en-US" sz="2200" dirty="0"/>
          </a:p>
        </p:txBody>
      </p:sp>
      <p:sp>
        <p:nvSpPr>
          <p:cNvPr id="21" name="card-107"/>
          <p:cNvSpPr/>
          <p:nvPr/>
        </p:nvSpPr>
        <p:spPr>
          <a:xfrm>
            <a:off x="4617720" y="3886200"/>
            <a:ext cx="333756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22" name="circle-108"/>
          <p:cNvSpPr/>
          <p:nvPr/>
        </p:nvSpPr>
        <p:spPr>
          <a:xfrm>
            <a:off x="4800600" y="4160520"/>
            <a:ext cx="868680" cy="868680"/>
          </a:xfrm>
          <a:prstGeom prst="ellipse">
            <a:avLst/>
          </a:prstGeom>
          <a:solidFill>
            <a:schemeClr val="accent3">
              <a:alpha val="25000"/>
            </a:schemeClr>
          </a:solidFill>
          <a:ln/>
        </p:spPr>
      </p:sp>
      <p:pic>
        <p:nvPicPr>
          <p:cNvPr id="23" name="emoji-story-109" descr="sto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649" y="4325569"/>
            <a:ext cx="538582" cy="538582"/>
          </a:xfrm>
          <a:prstGeom prst="rect">
            <a:avLst/>
          </a:prstGeom>
        </p:spPr>
      </p:pic>
      <p:sp>
        <p:nvSpPr>
          <p:cNvPr id="24" name="text-110"/>
          <p:cNvSpPr txBox="1"/>
          <p:nvPr/>
        </p:nvSpPr>
        <p:spPr>
          <a:xfrm>
            <a:off x="4800600" y="53035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0B8"/>
                </a:solidFill>
              </a:rPr>
              <a:t>3</a:t>
            </a:r>
            <a:endParaRPr lang="en-US" sz="2600" dirty="0"/>
          </a:p>
        </p:txBody>
      </p:sp>
      <p:sp>
        <p:nvSpPr>
          <p:cNvPr id="25" name="text-111"/>
          <p:cNvSpPr txBox="1"/>
          <p:nvPr/>
        </p:nvSpPr>
        <p:spPr>
          <a:xfrm>
            <a:off x="5806440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能给你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讲故事吗？</a:t>
            </a:r>
            <a:endParaRPr lang="en-US" sz="2000" dirty="0"/>
          </a:p>
        </p:txBody>
      </p:sp>
      <p:sp>
        <p:nvSpPr>
          <p:cNvPr id="26" name="stamp-112"/>
          <p:cNvSpPr/>
          <p:nvPr/>
        </p:nvSpPr>
        <p:spPr>
          <a:xfrm>
            <a:off x="5806440" y="5349240"/>
            <a:ext cx="1737360" cy="5029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7" name="text-113"/>
          <p:cNvSpPr txBox="1"/>
          <p:nvPr/>
        </p:nvSpPr>
        <p:spPr>
          <a:xfrm>
            <a:off x="580644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⭕ 能！</a:t>
            </a:r>
            <a:endParaRPr lang="en-US" sz="2200" dirty="0"/>
          </a:p>
        </p:txBody>
      </p:sp>
      <p:sp>
        <p:nvSpPr>
          <p:cNvPr id="28" name="card-114"/>
          <p:cNvSpPr/>
          <p:nvPr/>
        </p:nvSpPr>
        <p:spPr>
          <a:xfrm>
            <a:off x="8229600" y="3886200"/>
            <a:ext cx="333756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29" name="circle-115"/>
          <p:cNvSpPr/>
          <p:nvPr/>
        </p:nvSpPr>
        <p:spPr>
          <a:xfrm>
            <a:off x="8412480" y="4160520"/>
            <a:ext cx="868680" cy="868680"/>
          </a:xfrm>
          <a:prstGeom prst="ellipse">
            <a:avLst/>
          </a:prstGeom>
          <a:solidFill>
            <a:schemeClr val="accent6">
              <a:alpha val="25000"/>
            </a:schemeClr>
          </a:solidFill>
          <a:ln/>
        </p:spPr>
      </p:sp>
      <p:pic>
        <p:nvPicPr>
          <p:cNvPr id="30" name="emoji-ruler-116" descr="rul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529" y="4325569"/>
            <a:ext cx="538582" cy="538582"/>
          </a:xfrm>
          <a:prstGeom prst="rect">
            <a:avLst/>
          </a:prstGeom>
        </p:spPr>
      </p:pic>
      <p:sp>
        <p:nvSpPr>
          <p:cNvPr id="31" name="text-117"/>
          <p:cNvSpPr txBox="1"/>
          <p:nvPr/>
        </p:nvSpPr>
        <p:spPr>
          <a:xfrm>
            <a:off x="8412480" y="53035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0B8"/>
                </a:solidFill>
              </a:rPr>
              <a:t>4</a:t>
            </a:r>
            <a:endParaRPr lang="en-US" sz="2600" dirty="0"/>
          </a:p>
        </p:txBody>
      </p:sp>
      <p:sp>
        <p:nvSpPr>
          <p:cNvPr id="32" name="text-118"/>
          <p:cNvSpPr txBox="1"/>
          <p:nvPr/>
        </p:nvSpPr>
        <p:spPr>
          <a:xfrm>
            <a:off x="9418320" y="4069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能帮你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长高吗？</a:t>
            </a:r>
            <a:endParaRPr lang="en-US" sz="2000" dirty="0"/>
          </a:p>
        </p:txBody>
      </p:sp>
      <p:sp>
        <p:nvSpPr>
          <p:cNvPr id="33" name="stamp-119"/>
          <p:cNvSpPr/>
          <p:nvPr/>
        </p:nvSpPr>
        <p:spPr>
          <a:xfrm>
            <a:off x="9418320" y="5349240"/>
            <a:ext cx="1737360" cy="502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4" name="text-120"/>
          <p:cNvSpPr txBox="1"/>
          <p:nvPr/>
        </p:nvSpPr>
        <p:spPr>
          <a:xfrm>
            <a:off x="941832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❌ 不能！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可是……AI 也会闹笑话！</a:t>
            </a:r>
            <a:endParaRPr lang="en-US" sz="4400" dirty="0"/>
          </a:p>
        </p:txBody>
      </p:sp>
      <p:pic>
        <p:nvPicPr>
          <p:cNvPr id="3" name="robot-121" descr="机器人小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140612" cy="4297680"/>
          </a:xfrm>
          <a:prstGeom prst="rect">
            <a:avLst/>
          </a:prstGeom>
        </p:spPr>
      </p:pic>
      <p:sp>
        <p:nvSpPr>
          <p:cNvPr id="4" name="text-122"/>
          <p:cNvSpPr txBox="1"/>
          <p:nvPr/>
        </p:nvSpPr>
        <p:spPr>
          <a:xfrm>
            <a:off x="4480560" y="160020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想让 AI 又听话、又不出错，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你需要三件法宝：</a:t>
            </a:r>
            <a:endParaRPr lang="en-US" sz="2800" dirty="0"/>
          </a:p>
        </p:txBody>
      </p:sp>
      <p:sp>
        <p:nvSpPr>
          <p:cNvPr id="5" name="circle-123"/>
          <p:cNvSpPr/>
          <p:nvPr/>
        </p:nvSpPr>
        <p:spPr>
          <a:xfrm>
            <a:off x="4480560" y="3063240"/>
            <a:ext cx="1920240" cy="1920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emoji-books-124" descr="boo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406" y="3428086"/>
            <a:ext cx="1190549" cy="1190549"/>
          </a:xfrm>
          <a:prstGeom prst="rect">
            <a:avLst/>
          </a:prstGeom>
        </p:spPr>
      </p:pic>
      <p:sp>
        <p:nvSpPr>
          <p:cNvPr id="7" name="text-125"/>
          <p:cNvSpPr txBox="1"/>
          <p:nvPr/>
        </p:nvSpPr>
        <p:spPr>
          <a:xfrm>
            <a:off x="4480560" y="5120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语文</a:t>
            </a:r>
            <a:endParaRPr lang="en-US" sz="3200" dirty="0"/>
          </a:p>
        </p:txBody>
      </p:sp>
      <p:sp>
        <p:nvSpPr>
          <p:cNvPr id="8" name="circle-126"/>
          <p:cNvSpPr/>
          <p:nvPr/>
        </p:nvSpPr>
        <p:spPr>
          <a:xfrm>
            <a:off x="6949440" y="3063240"/>
            <a:ext cx="1920240" cy="1920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emoji-numbers-127" descr="numb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286" y="3428086"/>
            <a:ext cx="1190549" cy="1190549"/>
          </a:xfrm>
          <a:prstGeom prst="rect">
            <a:avLst/>
          </a:prstGeom>
        </p:spPr>
      </p:pic>
      <p:sp>
        <p:nvSpPr>
          <p:cNvPr id="10" name="text-128"/>
          <p:cNvSpPr txBox="1"/>
          <p:nvPr/>
        </p:nvSpPr>
        <p:spPr>
          <a:xfrm>
            <a:off x="6949440" y="5120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数学</a:t>
            </a:r>
            <a:endParaRPr lang="en-US" sz="3200" dirty="0"/>
          </a:p>
        </p:txBody>
      </p:sp>
      <p:sp>
        <p:nvSpPr>
          <p:cNvPr id="11" name="circle-129"/>
          <p:cNvSpPr/>
          <p:nvPr/>
        </p:nvSpPr>
        <p:spPr>
          <a:xfrm>
            <a:off x="9418320" y="3063240"/>
            <a:ext cx="1920240" cy="1920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emoji-abc-130" descr="ab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3166" y="3428086"/>
            <a:ext cx="1190549" cy="1190549"/>
          </a:xfrm>
          <a:prstGeom prst="rect">
            <a:avLst/>
          </a:prstGeom>
        </p:spPr>
      </p:pic>
      <p:sp>
        <p:nvSpPr>
          <p:cNvPr id="13" name="text-131"/>
          <p:cNvSpPr txBox="1"/>
          <p:nvPr/>
        </p:nvSpPr>
        <p:spPr>
          <a:xfrm>
            <a:off x="9418320" y="5120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英语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8C4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-132"/>
          <p:cNvSpPr/>
          <p:nvPr/>
        </p:nvSpPr>
        <p:spPr>
          <a:xfrm>
            <a:off x="822960" y="1143000"/>
            <a:ext cx="4206240" cy="4206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emoji-books-133" descr="boo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103120"/>
            <a:ext cx="2286000" cy="22860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0" y="21488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法宝一：语文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0" y="34290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</a:rPr>
              <a:t>把话说清楚，AI 才听得懂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8C4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小明对 AI 说：“给我画一只小动物！”</a:t>
            </a:r>
            <a:endParaRPr lang="en-US" sz="4000" dirty="0"/>
          </a:p>
        </p:txBody>
      </p:sp>
      <p:sp>
        <p:nvSpPr>
          <p:cNvPr id="3" name="card-134"/>
          <p:cNvSpPr/>
          <p:nvPr/>
        </p:nvSpPr>
        <p:spPr>
          <a:xfrm>
            <a:off x="548640" y="1463040"/>
            <a:ext cx="4937760" cy="365760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4" name="text-135"/>
          <p:cNvSpPr txBox="1"/>
          <p:nvPr/>
        </p:nvSpPr>
        <p:spPr>
          <a:xfrm>
            <a:off x="548640" y="1600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5F8F"/>
                </a:solidFill>
              </a:rPr>
              <a:t>小明心里想的</a:t>
            </a:r>
            <a:endParaRPr lang="en-US" sz="2400" dirty="0"/>
          </a:p>
        </p:txBody>
      </p:sp>
      <p:sp>
        <p:nvSpPr>
          <p:cNvPr id="5" name="cloud-136"/>
          <p:cNvSpPr/>
          <p:nvPr/>
        </p:nvSpPr>
        <p:spPr>
          <a:xfrm>
            <a:off x="1005840" y="2194560"/>
            <a:ext cx="4023360" cy="2743200"/>
          </a:xfrm>
          <a:prstGeom prst="cloud">
            <a:avLst/>
          </a:prstGeom>
          <a:solidFill>
            <a:srgbClr val="E3F6EA"/>
          </a:solidFill>
          <a:ln w="25400">
            <a:solidFill>
              <a:schemeClr val="accent4"/>
            </a:solidFill>
            <a:prstDash val="solid"/>
          </a:ln>
        </p:spPr>
      </p:sp>
      <p:pic>
        <p:nvPicPr>
          <p:cNvPr id="6" name="emoji-rabbit-137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697480"/>
            <a:ext cx="1554480" cy="1554480"/>
          </a:xfrm>
          <a:prstGeom prst="rect">
            <a:avLst/>
          </a:prstGeom>
        </p:spPr>
      </p:pic>
      <p:pic>
        <p:nvPicPr>
          <p:cNvPr id="7" name="emoji-carrot-138" descr="c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3063240"/>
            <a:ext cx="1097280" cy="1097280"/>
          </a:xfrm>
          <a:prstGeom prst="rect">
            <a:avLst/>
          </a:prstGeom>
        </p:spPr>
      </p:pic>
      <p:sp>
        <p:nvSpPr>
          <p:cNvPr id="8" name="arrow-139"/>
          <p:cNvSpPr/>
          <p:nvPr/>
        </p:nvSpPr>
        <p:spPr>
          <a:xfrm>
            <a:off x="5669280" y="2880360"/>
            <a:ext cx="822960" cy="8229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card-140"/>
          <p:cNvSpPr/>
          <p:nvPr/>
        </p:nvSpPr>
        <p:spPr>
          <a:xfrm>
            <a:off x="6675120" y="1463040"/>
            <a:ext cx="4937760" cy="365760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0" name="text-141"/>
          <p:cNvSpPr txBox="1"/>
          <p:nvPr/>
        </p:nvSpPr>
        <p:spPr>
          <a:xfrm>
            <a:off x="6675120" y="1600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5F8F"/>
                </a:solidFill>
              </a:rPr>
              <a:t>AI 画出来的</a:t>
            </a:r>
            <a:endParaRPr lang="en-US" sz="2400" dirty="0"/>
          </a:p>
        </p:txBody>
      </p:sp>
      <p:pic>
        <p:nvPicPr>
          <p:cNvPr id="11" name="emoji-octopus-142" descr="octop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40280"/>
            <a:ext cx="2560320" cy="2560320"/>
          </a:xfrm>
          <a:prstGeom prst="rect">
            <a:avLst/>
          </a:prstGeom>
        </p:spPr>
      </p:pic>
      <p:pic>
        <p:nvPicPr>
          <p:cNvPr id="12" name="emoji-lol-143" descr="l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4114800"/>
            <a:ext cx="822960" cy="822960"/>
          </a:xfrm>
          <a:prstGeom prst="rect">
            <a:avLst/>
          </a:prstGeom>
        </p:spPr>
      </p:pic>
      <p:pic>
        <p:nvPicPr>
          <p:cNvPr id="13" name="robot-144" descr="机器人小智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257800"/>
            <a:ext cx="768448" cy="1051560"/>
          </a:xfrm>
          <a:prstGeom prst="rect">
            <a:avLst/>
          </a:prstGeom>
        </p:spPr>
      </p:pic>
      <p:sp>
        <p:nvSpPr>
          <p:cNvPr id="14" name="bubble-tail-145"/>
          <p:cNvSpPr/>
          <p:nvPr/>
        </p:nvSpPr>
        <p:spPr>
          <a:xfrm rot="16200000">
            <a:off x="1508760" y="5618988"/>
            <a:ext cx="329184" cy="329184"/>
          </a:xfrm>
          <a:prstGeom prst="triangle">
            <a:avLst/>
          </a:prstGeom>
          <a:solidFill>
            <a:schemeClr val="bg1"/>
          </a:solidFill>
          <a:ln/>
        </p:spPr>
      </p:sp>
      <p:sp>
        <p:nvSpPr>
          <p:cNvPr id="15" name="bubble-146"/>
          <p:cNvSpPr/>
          <p:nvPr/>
        </p:nvSpPr>
        <p:spPr>
          <a:xfrm>
            <a:off x="1783080" y="5394960"/>
            <a:ext cx="5120640" cy="777240"/>
          </a:xfrm>
          <a:prstGeom prst="roundRect">
            <a:avLst>
              <a:gd name="adj" fmla="val 35294"/>
            </a:avLst>
          </a:prstGeom>
          <a:solidFill>
            <a:schemeClr val="bg1"/>
          </a:solidFill>
          <a:ln/>
        </p:spPr>
      </p:sp>
      <p:sp>
        <p:nvSpPr>
          <p:cNvPr id="16" name="text-147"/>
          <p:cNvSpPr txBox="1"/>
          <p:nvPr/>
        </p:nvSpPr>
        <p:spPr>
          <a:xfrm>
            <a:off x="2011680" y="5394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咦？为什么 AI 画错了？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游戏：指挥机器人老师</a:t>
            </a:r>
            <a:endParaRPr lang="en-US" sz="4000" dirty="0"/>
          </a:p>
        </p:txBody>
      </p:sp>
      <p:sp>
        <p:nvSpPr>
          <p:cNvPr id="3" name="card-148"/>
          <p:cNvSpPr/>
          <p:nvPr/>
        </p:nvSpPr>
        <p:spPr>
          <a:xfrm>
            <a:off x="548640" y="1463040"/>
            <a:ext cx="3749040" cy="4572000"/>
          </a:xfrm>
          <a:prstGeom prst="roundRect">
            <a:avLst>
              <a:gd name="adj" fmla="val 6098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4" name="robot-149" descr="机器人小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83080"/>
            <a:ext cx="2405575" cy="3291840"/>
          </a:xfrm>
          <a:prstGeom prst="rect">
            <a:avLst/>
          </a:prstGeom>
        </p:spPr>
      </p:pic>
      <p:pic>
        <p:nvPicPr>
          <p:cNvPr id="5" name="emoji-hat-150" descr="h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463040"/>
            <a:ext cx="868680" cy="868680"/>
          </a:xfrm>
          <a:prstGeom prst="rect">
            <a:avLst/>
          </a:prstGeom>
        </p:spPr>
      </p:pic>
      <p:sp>
        <p:nvSpPr>
          <p:cNvPr id="6" name="text-151"/>
          <p:cNvSpPr txBox="1"/>
          <p:nvPr/>
        </p:nvSpPr>
        <p:spPr>
          <a:xfrm>
            <a:off x="548640" y="5212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机器人老师 已上线！</a:t>
            </a:r>
            <a:endParaRPr lang="en-US" sz="2400" dirty="0"/>
          </a:p>
        </p:txBody>
      </p:sp>
      <p:sp>
        <p:nvSpPr>
          <p:cNvPr id="7" name="card-152"/>
          <p:cNvSpPr/>
          <p:nvPr/>
        </p:nvSpPr>
        <p:spPr>
          <a:xfrm>
            <a:off x="4572000" y="1463040"/>
            <a:ext cx="7040880" cy="1325880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8" name="circle-153"/>
          <p:cNvSpPr/>
          <p:nvPr/>
        </p:nvSpPr>
        <p:spPr>
          <a:xfrm>
            <a:off x="4800600" y="17373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-154"/>
          <p:cNvSpPr txBox="1"/>
          <p:nvPr/>
        </p:nvSpPr>
        <p:spPr>
          <a:xfrm>
            <a:off x="480060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-155"/>
          <p:cNvSpPr txBox="1"/>
          <p:nvPr/>
        </p:nvSpPr>
        <p:spPr>
          <a:xfrm>
            <a:off x="58064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机器人老师只听“字面意思”</a:t>
            </a:r>
            <a:endParaRPr lang="en-US" sz="2600" dirty="0"/>
          </a:p>
        </p:txBody>
      </p:sp>
      <p:sp>
        <p:nvSpPr>
          <p:cNvPr id="11" name="text-156"/>
          <p:cNvSpPr txBox="1"/>
          <p:nvPr/>
        </p:nvSpPr>
        <p:spPr>
          <a:xfrm>
            <a:off x="5806440" y="21762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5F8F"/>
                </a:solidFill>
              </a:rPr>
              <a:t>你怎么说，它就怎么做</a:t>
            </a:r>
            <a:endParaRPr lang="en-US" sz="2000" dirty="0"/>
          </a:p>
        </p:txBody>
      </p:sp>
      <p:sp>
        <p:nvSpPr>
          <p:cNvPr id="12" name="card-157"/>
          <p:cNvSpPr/>
          <p:nvPr/>
        </p:nvSpPr>
        <p:spPr>
          <a:xfrm>
            <a:off x="4572000" y="3035808"/>
            <a:ext cx="7040880" cy="1325880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3" name="circle-158"/>
          <p:cNvSpPr/>
          <p:nvPr/>
        </p:nvSpPr>
        <p:spPr>
          <a:xfrm>
            <a:off x="4800600" y="3310128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-159"/>
          <p:cNvSpPr txBox="1"/>
          <p:nvPr/>
        </p:nvSpPr>
        <p:spPr>
          <a:xfrm>
            <a:off x="4800600" y="33101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-160"/>
          <p:cNvSpPr txBox="1"/>
          <p:nvPr/>
        </p:nvSpPr>
        <p:spPr>
          <a:xfrm>
            <a:off x="5806440" y="317296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一次只说一步</a:t>
            </a:r>
            <a:endParaRPr lang="en-US" sz="2600" dirty="0"/>
          </a:p>
        </p:txBody>
      </p:sp>
      <p:sp>
        <p:nvSpPr>
          <p:cNvPr id="16" name="text-161"/>
          <p:cNvSpPr txBox="1"/>
          <p:nvPr/>
        </p:nvSpPr>
        <p:spPr>
          <a:xfrm>
            <a:off x="5806440" y="3749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5F8F"/>
                </a:solidFill>
              </a:rPr>
              <a:t>说一句，做一步</a:t>
            </a:r>
            <a:endParaRPr lang="en-US" sz="2000" dirty="0"/>
          </a:p>
        </p:txBody>
      </p:sp>
      <p:sp>
        <p:nvSpPr>
          <p:cNvPr id="17" name="card-162"/>
          <p:cNvSpPr/>
          <p:nvPr/>
        </p:nvSpPr>
        <p:spPr>
          <a:xfrm>
            <a:off x="4572000" y="4608576"/>
            <a:ext cx="7040880" cy="1325880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8" name="circle-163"/>
          <p:cNvSpPr/>
          <p:nvPr/>
        </p:nvSpPr>
        <p:spPr>
          <a:xfrm>
            <a:off x="4800600" y="4882896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-164"/>
          <p:cNvSpPr txBox="1"/>
          <p:nvPr/>
        </p:nvSpPr>
        <p:spPr>
          <a:xfrm>
            <a:off x="4800600" y="488289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-165"/>
          <p:cNvSpPr txBox="1"/>
          <p:nvPr/>
        </p:nvSpPr>
        <p:spPr>
          <a:xfrm>
            <a:off x="5806440" y="4745736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任务：让老师戴好帽子</a:t>
            </a:r>
            <a:endParaRPr lang="en-US" sz="2600" dirty="0"/>
          </a:p>
        </p:txBody>
      </p:sp>
      <p:sp>
        <p:nvSpPr>
          <p:cNvPr id="21" name="text-166"/>
          <p:cNvSpPr txBox="1"/>
          <p:nvPr/>
        </p:nvSpPr>
        <p:spPr>
          <a:xfrm>
            <a:off x="5806440" y="53218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5F8F"/>
                </a:solidFill>
              </a:rPr>
              <a:t>再在黑板上画一张笑脸 😀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说清楚的魔法公式</a:t>
            </a:r>
            <a:endParaRPr lang="en-US" sz="4000" dirty="0"/>
          </a:p>
        </p:txBody>
      </p:sp>
      <p:sp>
        <p:nvSpPr>
          <p:cNvPr id="3" name="block-167"/>
          <p:cNvSpPr/>
          <p:nvPr/>
        </p:nvSpPr>
        <p:spPr>
          <a:xfrm>
            <a:off x="548640" y="1463040"/>
            <a:ext cx="2423160" cy="2011680"/>
          </a:xfrm>
          <a:prstGeom prst="roundRect">
            <a:avLst>
              <a:gd name="adj" fmla="val 11364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4" name="text-168"/>
          <p:cNvSpPr txBox="1"/>
          <p:nvPr/>
        </p:nvSpPr>
        <p:spPr>
          <a:xfrm>
            <a:off x="548640" y="16002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谁</a:t>
            </a:r>
            <a:endParaRPr lang="en-US" sz="3400" dirty="0"/>
          </a:p>
        </p:txBody>
      </p:sp>
      <p:sp>
        <p:nvSpPr>
          <p:cNvPr id="5" name="text-169"/>
          <p:cNvSpPr txBox="1"/>
          <p:nvPr/>
        </p:nvSpPr>
        <p:spPr>
          <a:xfrm>
            <a:off x="640080" y="23317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一只小兔子</a:t>
            </a:r>
            <a:endParaRPr lang="en-US" sz="2200" dirty="0"/>
          </a:p>
        </p:txBody>
      </p:sp>
      <p:sp>
        <p:nvSpPr>
          <p:cNvPr id="6" name="text-170"/>
          <p:cNvSpPr txBox="1"/>
          <p:nvPr/>
        </p:nvSpPr>
        <p:spPr>
          <a:xfrm>
            <a:off x="2971800" y="20574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7" name="block-171"/>
          <p:cNvSpPr/>
          <p:nvPr/>
        </p:nvSpPr>
        <p:spPr>
          <a:xfrm>
            <a:off x="3429000" y="1463040"/>
            <a:ext cx="2423160" cy="2011680"/>
          </a:xfrm>
          <a:prstGeom prst="roundRect">
            <a:avLst>
              <a:gd name="adj" fmla="val 11364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8" name="text-172"/>
          <p:cNvSpPr txBox="1"/>
          <p:nvPr/>
        </p:nvSpPr>
        <p:spPr>
          <a:xfrm>
            <a:off x="3429000" y="16002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什么样</a:t>
            </a:r>
            <a:endParaRPr lang="en-US" sz="3400" dirty="0"/>
          </a:p>
        </p:txBody>
      </p:sp>
      <p:sp>
        <p:nvSpPr>
          <p:cNvPr id="9" name="text-173"/>
          <p:cNvSpPr txBox="1"/>
          <p:nvPr/>
        </p:nvSpPr>
        <p:spPr>
          <a:xfrm>
            <a:off x="3520440" y="23317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白白的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毛茸茸的</a:t>
            </a:r>
            <a:endParaRPr lang="en-US" sz="2200" dirty="0"/>
          </a:p>
        </p:txBody>
      </p:sp>
      <p:sp>
        <p:nvSpPr>
          <p:cNvPr id="10" name="text-174"/>
          <p:cNvSpPr txBox="1"/>
          <p:nvPr/>
        </p:nvSpPr>
        <p:spPr>
          <a:xfrm>
            <a:off x="5852160" y="20574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11" name="block-175"/>
          <p:cNvSpPr/>
          <p:nvPr/>
        </p:nvSpPr>
        <p:spPr>
          <a:xfrm>
            <a:off x="6309360" y="1463040"/>
            <a:ext cx="2423160" cy="2011680"/>
          </a:xfrm>
          <a:prstGeom prst="roundRect">
            <a:avLst>
              <a:gd name="adj" fmla="val 11364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2" name="text-176"/>
          <p:cNvSpPr txBox="1"/>
          <p:nvPr/>
        </p:nvSpPr>
        <p:spPr>
          <a:xfrm>
            <a:off x="6309360" y="16002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在哪里</a:t>
            </a:r>
            <a:endParaRPr lang="en-US" sz="3400" dirty="0"/>
          </a:p>
        </p:txBody>
      </p:sp>
      <p:sp>
        <p:nvSpPr>
          <p:cNvPr id="13" name="text-177"/>
          <p:cNvSpPr txBox="1"/>
          <p:nvPr/>
        </p:nvSpPr>
        <p:spPr>
          <a:xfrm>
            <a:off x="6400800" y="23317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在绿绿的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草地上</a:t>
            </a:r>
            <a:endParaRPr lang="en-US" sz="2200" dirty="0"/>
          </a:p>
        </p:txBody>
      </p:sp>
      <p:sp>
        <p:nvSpPr>
          <p:cNvPr id="14" name="text-178"/>
          <p:cNvSpPr txBox="1"/>
          <p:nvPr/>
        </p:nvSpPr>
        <p:spPr>
          <a:xfrm>
            <a:off x="8732520" y="20574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15" name="block-179"/>
          <p:cNvSpPr/>
          <p:nvPr/>
        </p:nvSpPr>
        <p:spPr>
          <a:xfrm>
            <a:off x="9189720" y="1463040"/>
            <a:ext cx="2423160" cy="2011680"/>
          </a:xfrm>
          <a:prstGeom prst="roundRect">
            <a:avLst>
              <a:gd name="adj" fmla="val 11364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6" name="text-180"/>
          <p:cNvSpPr txBox="1"/>
          <p:nvPr/>
        </p:nvSpPr>
        <p:spPr>
          <a:xfrm>
            <a:off x="9189720" y="16002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做什么</a:t>
            </a:r>
            <a:endParaRPr lang="en-US" sz="3400" dirty="0"/>
          </a:p>
        </p:txBody>
      </p:sp>
      <p:sp>
        <p:nvSpPr>
          <p:cNvPr id="17" name="text-181"/>
          <p:cNvSpPr txBox="1"/>
          <p:nvPr/>
        </p:nvSpPr>
        <p:spPr>
          <a:xfrm>
            <a:off x="9281160" y="23317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吃胡萝卜</a:t>
            </a:r>
            <a:endParaRPr lang="en-US" sz="2200" dirty="0"/>
          </a:p>
        </p:txBody>
      </p:sp>
      <p:sp>
        <p:nvSpPr>
          <p:cNvPr id="18" name="card-182"/>
          <p:cNvSpPr/>
          <p:nvPr/>
        </p:nvSpPr>
        <p:spPr>
          <a:xfrm>
            <a:off x="548640" y="3794760"/>
            <a:ext cx="5212080" cy="2286000"/>
          </a:xfrm>
          <a:prstGeom prst="roundRect">
            <a:avLst>
              <a:gd name="adj" fmla="val 10000"/>
            </a:avLst>
          </a:prstGeom>
          <a:solidFill>
            <a:srgbClr val="E3F6EA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19" name="emoji-herb-183" descr="her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54880"/>
            <a:ext cx="1005840" cy="1005840"/>
          </a:xfrm>
          <a:prstGeom prst="rect">
            <a:avLst/>
          </a:prstGeom>
        </p:spPr>
      </p:pic>
      <p:pic>
        <p:nvPicPr>
          <p:cNvPr id="20" name="emoji-rabbit-184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3977640"/>
            <a:ext cx="1737360" cy="1737360"/>
          </a:xfrm>
          <a:prstGeom prst="rect">
            <a:avLst/>
          </a:prstGeom>
        </p:spPr>
      </p:pic>
      <p:pic>
        <p:nvPicPr>
          <p:cNvPr id="21" name="emoji-carrot-185" descr="carr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526280"/>
            <a:ext cx="1097280" cy="1097280"/>
          </a:xfrm>
          <a:prstGeom prst="rect">
            <a:avLst/>
          </a:prstGeom>
        </p:spPr>
      </p:pic>
      <p:pic>
        <p:nvPicPr>
          <p:cNvPr id="22" name="emoji-sparkles-186" descr="spark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931920"/>
            <a:ext cx="777240" cy="777240"/>
          </a:xfrm>
          <a:prstGeom prst="rect">
            <a:avLst/>
          </a:prstGeom>
        </p:spPr>
      </p:pic>
      <p:pic>
        <p:nvPicPr>
          <p:cNvPr id="23" name="robot-187" descr="机器人小智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94760"/>
            <a:ext cx="1670538" cy="2286000"/>
          </a:xfrm>
          <a:prstGeom prst="rect">
            <a:avLst/>
          </a:prstGeom>
        </p:spPr>
      </p:pic>
      <p:sp>
        <p:nvSpPr>
          <p:cNvPr id="24" name="bubble-tail-188"/>
          <p:cNvSpPr/>
          <p:nvPr/>
        </p:nvSpPr>
        <p:spPr>
          <a:xfrm rot="16200000">
            <a:off x="7726680" y="4727448"/>
            <a:ext cx="329184" cy="329184"/>
          </a:xfrm>
          <a:prstGeom prst="triangle">
            <a:avLst/>
          </a:prstGeom>
          <a:solidFill>
            <a:schemeClr val="bg1"/>
          </a:solidFill>
          <a:ln/>
        </p:spPr>
      </p:sp>
      <p:sp>
        <p:nvSpPr>
          <p:cNvPr id="25" name="bubble-189"/>
          <p:cNvSpPr/>
          <p:nvPr/>
        </p:nvSpPr>
        <p:spPr>
          <a:xfrm>
            <a:off x="8001000" y="4160520"/>
            <a:ext cx="3657600" cy="1463040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/>
        </p:spPr>
      </p:sp>
      <p:sp>
        <p:nvSpPr>
          <p:cNvPr id="26" name="text-190"/>
          <p:cNvSpPr txBox="1"/>
          <p:nvPr/>
        </p:nvSpPr>
        <p:spPr>
          <a:xfrm>
            <a:off x="8229600" y="41605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这次画对啦！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你想让 AI 画什么？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-191"/>
          <p:cNvSpPr/>
          <p:nvPr/>
        </p:nvSpPr>
        <p:spPr>
          <a:xfrm>
            <a:off x="822960" y="1143000"/>
            <a:ext cx="4206240" cy="4206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" name="emoji-numbers-192" descr="numb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103120"/>
            <a:ext cx="2286000" cy="22860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0" y="21488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法宝二：数学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0" y="34290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</a:rPr>
              <a:t>会数会算，帮 AI 找错误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8C4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AI 画了一只手，数一数！</a:t>
            </a:r>
            <a:endParaRPr lang="en-US" sz="4000" dirty="0"/>
          </a:p>
        </p:txBody>
      </p:sp>
      <p:sp>
        <p:nvSpPr>
          <p:cNvPr id="3" name="card-193"/>
          <p:cNvSpPr/>
          <p:nvPr/>
        </p:nvSpPr>
        <p:spPr>
          <a:xfrm>
            <a:off x="548640" y="1463040"/>
            <a:ext cx="5120640" cy="45720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4" name="hand-194" descr="AI 画的手，有 6 根手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91640"/>
            <a:ext cx="3756991" cy="4114800"/>
          </a:xfrm>
          <a:prstGeom prst="rect">
            <a:avLst/>
          </a:prstGeom>
        </p:spPr>
      </p:pic>
      <p:sp>
        <p:nvSpPr>
          <p:cNvPr id="5" name="circle-195"/>
          <p:cNvSpPr/>
          <p:nvPr/>
        </p:nvSpPr>
        <p:spPr>
          <a:xfrm>
            <a:off x="6126480" y="1600200"/>
            <a:ext cx="1097280" cy="1097280"/>
          </a:xfrm>
          <a:prstGeom prst="ellipse">
            <a:avLst/>
          </a:prstGeom>
          <a:solidFill>
            <a:schemeClr val="accent3">
              <a:alpha val="25000"/>
            </a:schemeClr>
          </a:solidFill>
          <a:ln/>
        </p:spPr>
      </p:sp>
      <p:pic>
        <p:nvPicPr>
          <p:cNvPr id="6" name="emoji-eyes-196" descr="ey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963" y="1808683"/>
            <a:ext cx="680314" cy="680314"/>
          </a:xfrm>
          <a:prstGeom prst="rect">
            <a:avLst/>
          </a:prstGeom>
        </p:spPr>
      </p:pic>
      <p:sp>
        <p:nvSpPr>
          <p:cNvPr id="7" name="text-197"/>
          <p:cNvSpPr txBox="1"/>
          <p:nvPr/>
        </p:nvSpPr>
        <p:spPr>
          <a:xfrm>
            <a:off x="7406640" y="16002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这只手有几根手指？</a:t>
            </a:r>
            <a:endParaRPr lang="en-US" sz="3200" dirty="0"/>
          </a:p>
        </p:txBody>
      </p:sp>
      <p:sp>
        <p:nvSpPr>
          <p:cNvPr id="8" name="circle-198"/>
          <p:cNvSpPr/>
          <p:nvPr/>
        </p:nvSpPr>
        <p:spPr>
          <a:xfrm>
            <a:off x="6126480" y="3063240"/>
            <a:ext cx="1097280" cy="1097280"/>
          </a:xfrm>
          <a:prstGeom prst="ellipse">
            <a:avLst/>
          </a:prstGeom>
          <a:solidFill>
            <a:schemeClr val="accent6">
              <a:alpha val="25000"/>
            </a:schemeClr>
          </a:solidFill>
          <a:ln/>
        </p:spPr>
      </p:sp>
      <p:pic>
        <p:nvPicPr>
          <p:cNvPr id="9" name="emoji-wave-199" descr="wa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963" y="3271723"/>
            <a:ext cx="680314" cy="680314"/>
          </a:xfrm>
          <a:prstGeom prst="rect">
            <a:avLst/>
          </a:prstGeom>
        </p:spPr>
      </p:pic>
      <p:sp>
        <p:nvSpPr>
          <p:cNvPr id="10" name="text-200"/>
          <p:cNvSpPr txBox="1"/>
          <p:nvPr/>
        </p:nvSpPr>
        <p:spPr>
          <a:xfrm>
            <a:off x="7406640" y="3063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再看看你自己的手，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有几根？</a:t>
            </a:r>
            <a:endParaRPr lang="en-US" sz="2800" dirty="0"/>
          </a:p>
        </p:txBody>
      </p:sp>
      <p:pic>
        <p:nvPicPr>
          <p:cNvPr id="11" name="robot-201" descr="机器人小智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34840"/>
            <a:ext cx="1169377" cy="1600200"/>
          </a:xfrm>
          <a:prstGeom prst="rect">
            <a:avLst/>
          </a:prstGeom>
        </p:spPr>
      </p:pic>
      <p:sp>
        <p:nvSpPr>
          <p:cNvPr id="12" name="bubble-tail-202"/>
          <p:cNvSpPr/>
          <p:nvPr/>
        </p:nvSpPr>
        <p:spPr>
          <a:xfrm rot="16200000">
            <a:off x="7315200" y="5024628"/>
            <a:ext cx="329184" cy="329184"/>
          </a:xfrm>
          <a:prstGeom prst="triangle">
            <a:avLst/>
          </a:prstGeom>
          <a:solidFill>
            <a:schemeClr val="bg1"/>
          </a:solidFill>
          <a:ln/>
        </p:spPr>
      </p:sp>
      <p:sp>
        <p:nvSpPr>
          <p:cNvPr id="13" name="bubble-203"/>
          <p:cNvSpPr/>
          <p:nvPr/>
        </p:nvSpPr>
        <p:spPr>
          <a:xfrm>
            <a:off x="7589520" y="4754880"/>
            <a:ext cx="4023360" cy="868680"/>
          </a:xfrm>
          <a:prstGeom prst="roundRect">
            <a:avLst>
              <a:gd name="adj" fmla="val 31579"/>
            </a:avLst>
          </a:prstGeom>
          <a:solidFill>
            <a:schemeClr val="bg1"/>
          </a:solidFill>
          <a:ln/>
        </p:spPr>
      </p:sp>
      <p:sp>
        <p:nvSpPr>
          <p:cNvPr id="14" name="text-204"/>
          <p:cNvSpPr txBox="1"/>
          <p:nvPr/>
        </p:nvSpPr>
        <p:spPr>
          <a:xfrm>
            <a:off x="7818120" y="4754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哎呀，我多画了一根！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当 AI 小侦探：它算对了吗？</a:t>
            </a:r>
            <a:endParaRPr lang="en-US" sz="4000" dirty="0"/>
          </a:p>
        </p:txBody>
      </p:sp>
      <p:sp>
        <p:nvSpPr>
          <p:cNvPr id="3" name="card-205"/>
          <p:cNvSpPr/>
          <p:nvPr/>
        </p:nvSpPr>
        <p:spPr>
          <a:xfrm>
            <a:off x="548640" y="1417320"/>
            <a:ext cx="3474720" cy="3794760"/>
          </a:xfrm>
          <a:prstGeom prst="roundRect">
            <a:avLst>
              <a:gd name="adj" fmla="val 65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4" name="emoji-bird-206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19072"/>
            <a:ext cx="548640" cy="548640"/>
          </a:xfrm>
          <a:prstGeom prst="rect">
            <a:avLst/>
          </a:prstGeom>
        </p:spPr>
      </p:pic>
      <p:pic>
        <p:nvPicPr>
          <p:cNvPr id="5" name="emoji-bird-207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719072"/>
            <a:ext cx="548640" cy="548640"/>
          </a:xfrm>
          <a:prstGeom prst="rect">
            <a:avLst/>
          </a:prstGeom>
        </p:spPr>
      </p:pic>
      <p:pic>
        <p:nvPicPr>
          <p:cNvPr id="6" name="emoji-bird-208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719072"/>
            <a:ext cx="548640" cy="548640"/>
          </a:xfrm>
          <a:prstGeom prst="rect">
            <a:avLst/>
          </a:prstGeom>
        </p:spPr>
      </p:pic>
      <p:pic>
        <p:nvPicPr>
          <p:cNvPr id="7" name="emoji-bird-209" descr="bi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719072"/>
            <a:ext cx="548640" cy="548640"/>
          </a:xfrm>
          <a:prstGeom prst="rect">
            <a:avLst/>
          </a:prstGeom>
        </p:spPr>
      </p:pic>
      <p:pic>
        <p:nvPicPr>
          <p:cNvPr id="8" name="emoji-bird-210" descr="bi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719072"/>
            <a:ext cx="548640" cy="548640"/>
          </a:xfrm>
          <a:prstGeom prst="rect">
            <a:avLst/>
          </a:prstGeom>
        </p:spPr>
      </p:pic>
      <p:sp>
        <p:nvSpPr>
          <p:cNvPr id="9" name="ai-says-211"/>
          <p:cNvSpPr/>
          <p:nvPr/>
        </p:nvSpPr>
        <p:spPr>
          <a:xfrm>
            <a:off x="777240" y="2560320"/>
            <a:ext cx="105156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/>
        </p:spPr>
      </p:sp>
      <p:sp>
        <p:nvSpPr>
          <p:cNvPr id="10" name="text-212"/>
          <p:cNvSpPr txBox="1"/>
          <p:nvPr/>
        </p:nvSpPr>
        <p:spPr>
          <a:xfrm>
            <a:off x="777240" y="25603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说</a:t>
            </a:r>
            <a:endParaRPr lang="en-US" sz="1600" dirty="0"/>
          </a:p>
        </p:txBody>
      </p:sp>
      <p:sp>
        <p:nvSpPr>
          <p:cNvPr id="11" name="text-213"/>
          <p:cNvSpPr txBox="1"/>
          <p:nvPr/>
        </p:nvSpPr>
        <p:spPr>
          <a:xfrm>
            <a:off x="822960" y="30175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树上有 5 只小鸟，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飞走了 2 只，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还剩 7 只。</a:t>
            </a:r>
            <a:endParaRPr lang="en-US" sz="2200" dirty="0"/>
          </a:p>
        </p:txBody>
      </p:sp>
      <p:sp>
        <p:nvSpPr>
          <p:cNvPr id="12" name="text-214"/>
          <p:cNvSpPr txBox="1"/>
          <p:nvPr/>
        </p:nvSpPr>
        <p:spPr>
          <a:xfrm>
            <a:off x="822960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0B8"/>
                </a:solidFill>
              </a:rPr>
              <a:t>⭕ 对 还是 ❌ 错？</a:t>
            </a:r>
            <a:endParaRPr lang="en-US" sz="2000" dirty="0"/>
          </a:p>
        </p:txBody>
      </p:sp>
      <p:sp>
        <p:nvSpPr>
          <p:cNvPr id="13" name="card-215"/>
          <p:cNvSpPr/>
          <p:nvPr/>
        </p:nvSpPr>
        <p:spPr>
          <a:xfrm>
            <a:off x="4297680" y="1417320"/>
            <a:ext cx="3474720" cy="3794760"/>
          </a:xfrm>
          <a:prstGeom prst="roundRect">
            <a:avLst>
              <a:gd name="adj" fmla="val 65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14" name="emoji-apple-216" descr="app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645920"/>
            <a:ext cx="685800" cy="685800"/>
          </a:xfrm>
          <a:prstGeom prst="rect">
            <a:avLst/>
          </a:prstGeom>
        </p:spPr>
      </p:pic>
      <p:sp>
        <p:nvSpPr>
          <p:cNvPr id="15" name="text-217"/>
          <p:cNvSpPr txBox="1"/>
          <p:nvPr/>
        </p:nvSpPr>
        <p:spPr>
          <a:xfrm>
            <a:off x="5669280" y="16459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pic>
        <p:nvPicPr>
          <p:cNvPr id="16" name="emoji-apple-218" descr="app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645920"/>
            <a:ext cx="685800" cy="685800"/>
          </a:xfrm>
          <a:prstGeom prst="rect">
            <a:avLst/>
          </a:prstGeom>
        </p:spPr>
      </p:pic>
      <p:sp>
        <p:nvSpPr>
          <p:cNvPr id="17" name="ai-says-219"/>
          <p:cNvSpPr/>
          <p:nvPr/>
        </p:nvSpPr>
        <p:spPr>
          <a:xfrm>
            <a:off x="4526280" y="2560320"/>
            <a:ext cx="1051560" cy="41148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/>
        </p:spPr>
      </p:sp>
      <p:sp>
        <p:nvSpPr>
          <p:cNvPr id="18" name="text-220"/>
          <p:cNvSpPr txBox="1"/>
          <p:nvPr/>
        </p:nvSpPr>
        <p:spPr>
          <a:xfrm>
            <a:off x="4526280" y="25603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说</a:t>
            </a:r>
            <a:endParaRPr lang="en-US" sz="1600" dirty="0"/>
          </a:p>
        </p:txBody>
      </p:sp>
      <p:sp>
        <p:nvSpPr>
          <p:cNvPr id="19" name="text-221"/>
          <p:cNvSpPr txBox="1"/>
          <p:nvPr/>
        </p:nvSpPr>
        <p:spPr>
          <a:xfrm>
            <a:off x="4572000" y="30175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 个苹果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加 1 个苹果，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等于 11 个苹果！</a:t>
            </a:r>
            <a:endParaRPr lang="en-US" sz="2200" dirty="0"/>
          </a:p>
        </p:txBody>
      </p:sp>
      <p:sp>
        <p:nvSpPr>
          <p:cNvPr id="20" name="text-222"/>
          <p:cNvSpPr txBox="1"/>
          <p:nvPr/>
        </p:nvSpPr>
        <p:spPr>
          <a:xfrm>
            <a:off x="4572000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0B8"/>
                </a:solidFill>
              </a:rPr>
              <a:t>⭕ 对 还是 ❌ 错？</a:t>
            </a:r>
            <a:endParaRPr lang="en-US" sz="2000" dirty="0"/>
          </a:p>
        </p:txBody>
      </p:sp>
      <p:sp>
        <p:nvSpPr>
          <p:cNvPr id="21" name="card-223"/>
          <p:cNvSpPr/>
          <p:nvPr/>
        </p:nvSpPr>
        <p:spPr>
          <a:xfrm>
            <a:off x="8046720" y="1417320"/>
            <a:ext cx="3474720" cy="3794760"/>
          </a:xfrm>
          <a:prstGeom prst="roundRect">
            <a:avLst>
              <a:gd name="adj" fmla="val 65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22" name="emoji-cookie-224" descr="cooki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1810512"/>
            <a:ext cx="384048" cy="384048"/>
          </a:xfrm>
          <a:prstGeom prst="rect">
            <a:avLst/>
          </a:prstGeom>
        </p:spPr>
      </p:pic>
      <p:pic>
        <p:nvPicPr>
          <p:cNvPr id="23" name="emoji-cookie-225" descr="cooki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1936" y="1810512"/>
            <a:ext cx="384048" cy="384048"/>
          </a:xfrm>
          <a:prstGeom prst="rect">
            <a:avLst/>
          </a:prstGeom>
        </p:spPr>
      </p:pic>
      <p:pic>
        <p:nvPicPr>
          <p:cNvPr id="24" name="emoji-cookie-226" descr="cooki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34272" y="1810512"/>
            <a:ext cx="384048" cy="384048"/>
          </a:xfrm>
          <a:prstGeom prst="rect">
            <a:avLst/>
          </a:prstGeom>
        </p:spPr>
      </p:pic>
      <p:pic>
        <p:nvPicPr>
          <p:cNvPr id="25" name="emoji-cookie-227" descr="cooki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6608" y="1810512"/>
            <a:ext cx="384048" cy="384048"/>
          </a:xfrm>
          <a:prstGeom prst="rect">
            <a:avLst/>
          </a:prstGeom>
        </p:spPr>
      </p:pic>
      <p:sp>
        <p:nvSpPr>
          <p:cNvPr id="26" name="text-228"/>
          <p:cNvSpPr txBox="1"/>
          <p:nvPr/>
        </p:nvSpPr>
        <p:spPr>
          <a:xfrm>
            <a:off x="9829800" y="169164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pic>
        <p:nvPicPr>
          <p:cNvPr id="27" name="emoji-cookie-229" descr="cooki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9840" y="1810512"/>
            <a:ext cx="384048" cy="384048"/>
          </a:xfrm>
          <a:prstGeom prst="rect">
            <a:avLst/>
          </a:prstGeom>
        </p:spPr>
      </p:pic>
      <p:pic>
        <p:nvPicPr>
          <p:cNvPr id="28" name="emoji-cookie-230" descr="cooki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52176" y="1810512"/>
            <a:ext cx="384048" cy="384048"/>
          </a:xfrm>
          <a:prstGeom prst="rect">
            <a:avLst/>
          </a:prstGeom>
        </p:spPr>
      </p:pic>
      <p:pic>
        <p:nvPicPr>
          <p:cNvPr id="29" name="emoji-cookie-231" descr="cooki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54512" y="1810512"/>
            <a:ext cx="384048" cy="384048"/>
          </a:xfrm>
          <a:prstGeom prst="rect">
            <a:avLst/>
          </a:prstGeom>
        </p:spPr>
      </p:pic>
      <p:sp>
        <p:nvSpPr>
          <p:cNvPr id="30" name="ai-says-232"/>
          <p:cNvSpPr/>
          <p:nvPr/>
        </p:nvSpPr>
        <p:spPr>
          <a:xfrm>
            <a:off x="8275320" y="2560320"/>
            <a:ext cx="1051560" cy="411480"/>
          </a:xfrm>
          <a:prstGeom prst="roundRect">
            <a:avLst>
              <a:gd name="adj" fmla="val 48889"/>
            </a:avLst>
          </a:prstGeom>
          <a:solidFill>
            <a:schemeClr val="accent4"/>
          </a:solidFill>
          <a:ln/>
        </p:spPr>
      </p:sp>
      <p:sp>
        <p:nvSpPr>
          <p:cNvPr id="31" name="text-233"/>
          <p:cNvSpPr txBox="1"/>
          <p:nvPr/>
        </p:nvSpPr>
        <p:spPr>
          <a:xfrm>
            <a:off x="8275320" y="25603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说</a:t>
            </a:r>
            <a:endParaRPr lang="en-US" sz="1600" dirty="0"/>
          </a:p>
        </p:txBody>
      </p:sp>
      <p:sp>
        <p:nvSpPr>
          <p:cNvPr id="32" name="text-234"/>
          <p:cNvSpPr txBox="1"/>
          <p:nvPr/>
        </p:nvSpPr>
        <p:spPr>
          <a:xfrm>
            <a:off x="8321040" y="30175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盘子里有 4 块饼干，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妈妈又拿来 3 块，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一共 7 块。</a:t>
            </a:r>
            <a:endParaRPr lang="en-US" sz="2200" dirty="0"/>
          </a:p>
        </p:txBody>
      </p:sp>
      <p:sp>
        <p:nvSpPr>
          <p:cNvPr id="33" name="text-235"/>
          <p:cNvSpPr txBox="1"/>
          <p:nvPr/>
        </p:nvSpPr>
        <p:spPr>
          <a:xfrm>
            <a:off x="8321040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0B8"/>
                </a:solidFill>
              </a:rPr>
              <a:t>⭕ 对 还是 ❌ 错？</a:t>
            </a:r>
            <a:endParaRPr lang="en-US" sz="2000" dirty="0"/>
          </a:p>
        </p:txBody>
      </p:sp>
      <p:pic>
        <p:nvPicPr>
          <p:cNvPr id="34" name="robot-236" descr="机器人小智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" y="5303520"/>
            <a:ext cx="735037" cy="1005840"/>
          </a:xfrm>
          <a:prstGeom prst="rect">
            <a:avLst/>
          </a:prstGeom>
        </p:spPr>
      </p:pic>
      <p:sp>
        <p:nvSpPr>
          <p:cNvPr id="35" name="bubble-tail-237"/>
          <p:cNvSpPr/>
          <p:nvPr/>
        </p:nvSpPr>
        <p:spPr>
          <a:xfrm rot="16200000">
            <a:off x="1463040" y="5623560"/>
            <a:ext cx="329184" cy="329184"/>
          </a:xfrm>
          <a:prstGeom prst="triangle">
            <a:avLst/>
          </a:prstGeom>
          <a:solidFill>
            <a:schemeClr val="bg1"/>
          </a:solidFill>
          <a:ln/>
        </p:spPr>
      </p:sp>
      <p:sp>
        <p:nvSpPr>
          <p:cNvPr id="36" name="bubble-238"/>
          <p:cNvSpPr/>
          <p:nvPr/>
        </p:nvSpPr>
        <p:spPr>
          <a:xfrm>
            <a:off x="1737360" y="5413248"/>
            <a:ext cx="7498080" cy="749808"/>
          </a:xfrm>
          <a:prstGeom prst="roundRect">
            <a:avLst>
              <a:gd name="adj" fmla="val 36585"/>
            </a:avLst>
          </a:prstGeom>
          <a:solidFill>
            <a:schemeClr val="bg1"/>
          </a:solidFill>
          <a:ln/>
        </p:spPr>
      </p:sp>
      <p:sp>
        <p:nvSpPr>
          <p:cNvPr id="37" name="text-239"/>
          <p:cNvSpPr txBox="1"/>
          <p:nvPr/>
        </p:nvSpPr>
        <p:spPr>
          <a:xfrm>
            <a:off x="1965960" y="5413248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伸出手指，帮 AI 算一算！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侦探报告：AI 算对了吗？</a:t>
            </a:r>
            <a:endParaRPr lang="en-US" sz="4000" dirty="0"/>
          </a:p>
        </p:txBody>
      </p:sp>
      <p:sp>
        <p:nvSpPr>
          <p:cNvPr id="3" name="card-240"/>
          <p:cNvSpPr/>
          <p:nvPr/>
        </p:nvSpPr>
        <p:spPr>
          <a:xfrm>
            <a:off x="548640" y="1417320"/>
            <a:ext cx="3474720" cy="3794760"/>
          </a:xfrm>
          <a:prstGeom prst="roundRect">
            <a:avLst>
              <a:gd name="adj" fmla="val 65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4" name="emoji-bird-241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19072"/>
            <a:ext cx="548640" cy="548640"/>
          </a:xfrm>
          <a:prstGeom prst="rect">
            <a:avLst/>
          </a:prstGeom>
        </p:spPr>
      </p:pic>
      <p:pic>
        <p:nvPicPr>
          <p:cNvPr id="5" name="emoji-bird-242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719072"/>
            <a:ext cx="548640" cy="548640"/>
          </a:xfrm>
          <a:prstGeom prst="rect">
            <a:avLst/>
          </a:prstGeom>
        </p:spPr>
      </p:pic>
      <p:pic>
        <p:nvPicPr>
          <p:cNvPr id="6" name="emoji-bird-243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719072"/>
            <a:ext cx="548640" cy="548640"/>
          </a:xfrm>
          <a:prstGeom prst="rect">
            <a:avLst/>
          </a:prstGeom>
        </p:spPr>
      </p:pic>
      <p:pic>
        <p:nvPicPr>
          <p:cNvPr id="7" name="emoji-bird-244" descr="bi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719072"/>
            <a:ext cx="548640" cy="548640"/>
          </a:xfrm>
          <a:prstGeom prst="rect">
            <a:avLst/>
          </a:prstGeom>
        </p:spPr>
      </p:pic>
      <p:pic>
        <p:nvPicPr>
          <p:cNvPr id="8" name="emoji-bird-245" descr="bi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719072"/>
            <a:ext cx="548640" cy="548640"/>
          </a:xfrm>
          <a:prstGeom prst="rect">
            <a:avLst/>
          </a:prstGeom>
        </p:spPr>
      </p:pic>
      <p:sp>
        <p:nvSpPr>
          <p:cNvPr id="9" name="ai-says-246"/>
          <p:cNvSpPr/>
          <p:nvPr/>
        </p:nvSpPr>
        <p:spPr>
          <a:xfrm>
            <a:off x="777240" y="2560320"/>
            <a:ext cx="105156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/>
        </p:spPr>
      </p:sp>
      <p:sp>
        <p:nvSpPr>
          <p:cNvPr id="10" name="text-247"/>
          <p:cNvSpPr txBox="1"/>
          <p:nvPr/>
        </p:nvSpPr>
        <p:spPr>
          <a:xfrm>
            <a:off x="777240" y="25603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说</a:t>
            </a:r>
            <a:endParaRPr lang="en-US" sz="1600" dirty="0"/>
          </a:p>
        </p:txBody>
      </p:sp>
      <p:sp>
        <p:nvSpPr>
          <p:cNvPr id="11" name="text-248"/>
          <p:cNvSpPr txBox="1"/>
          <p:nvPr/>
        </p:nvSpPr>
        <p:spPr>
          <a:xfrm>
            <a:off x="822960" y="30175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树上有 5 只小鸟，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飞走了 2 只，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还剩 7 只。</a:t>
            </a:r>
            <a:endParaRPr lang="en-US" sz="2200" dirty="0"/>
          </a:p>
        </p:txBody>
      </p:sp>
      <p:sp>
        <p:nvSpPr>
          <p:cNvPr id="12" name="stamp-249"/>
          <p:cNvSpPr/>
          <p:nvPr/>
        </p:nvSpPr>
        <p:spPr>
          <a:xfrm>
            <a:off x="822960" y="4526280"/>
            <a:ext cx="2926080" cy="502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3" name="text-250"/>
          <p:cNvSpPr txBox="1"/>
          <p:nvPr/>
        </p:nvSpPr>
        <p:spPr>
          <a:xfrm>
            <a:off x="822960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❌ 错！还剩 3 只</a:t>
            </a:r>
            <a:endParaRPr lang="en-US" sz="2200" dirty="0"/>
          </a:p>
        </p:txBody>
      </p:sp>
      <p:sp>
        <p:nvSpPr>
          <p:cNvPr id="14" name="card-251"/>
          <p:cNvSpPr/>
          <p:nvPr/>
        </p:nvSpPr>
        <p:spPr>
          <a:xfrm>
            <a:off x="4297680" y="1417320"/>
            <a:ext cx="3474720" cy="3794760"/>
          </a:xfrm>
          <a:prstGeom prst="roundRect">
            <a:avLst>
              <a:gd name="adj" fmla="val 65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15" name="emoji-apple-252" descr="app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645920"/>
            <a:ext cx="685800" cy="685800"/>
          </a:xfrm>
          <a:prstGeom prst="rect">
            <a:avLst/>
          </a:prstGeom>
        </p:spPr>
      </p:pic>
      <p:sp>
        <p:nvSpPr>
          <p:cNvPr id="16" name="text-253"/>
          <p:cNvSpPr txBox="1"/>
          <p:nvPr/>
        </p:nvSpPr>
        <p:spPr>
          <a:xfrm>
            <a:off x="5669280" y="16459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pic>
        <p:nvPicPr>
          <p:cNvPr id="17" name="emoji-apple-254" descr="app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645920"/>
            <a:ext cx="685800" cy="685800"/>
          </a:xfrm>
          <a:prstGeom prst="rect">
            <a:avLst/>
          </a:prstGeom>
        </p:spPr>
      </p:pic>
      <p:sp>
        <p:nvSpPr>
          <p:cNvPr id="18" name="ai-says-255"/>
          <p:cNvSpPr/>
          <p:nvPr/>
        </p:nvSpPr>
        <p:spPr>
          <a:xfrm>
            <a:off x="4526280" y="2560320"/>
            <a:ext cx="1051560" cy="41148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/>
        </p:spPr>
      </p:sp>
      <p:sp>
        <p:nvSpPr>
          <p:cNvPr id="19" name="text-256"/>
          <p:cNvSpPr txBox="1"/>
          <p:nvPr/>
        </p:nvSpPr>
        <p:spPr>
          <a:xfrm>
            <a:off x="4526280" y="25603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说</a:t>
            </a:r>
            <a:endParaRPr lang="en-US" sz="1600" dirty="0"/>
          </a:p>
        </p:txBody>
      </p:sp>
      <p:sp>
        <p:nvSpPr>
          <p:cNvPr id="20" name="text-257"/>
          <p:cNvSpPr txBox="1"/>
          <p:nvPr/>
        </p:nvSpPr>
        <p:spPr>
          <a:xfrm>
            <a:off x="4572000" y="30175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 个苹果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加 1 个苹果，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等于 11 个苹果！</a:t>
            </a:r>
            <a:endParaRPr lang="en-US" sz="2200" dirty="0"/>
          </a:p>
        </p:txBody>
      </p:sp>
      <p:sp>
        <p:nvSpPr>
          <p:cNvPr id="21" name="stamp-258"/>
          <p:cNvSpPr/>
          <p:nvPr/>
        </p:nvSpPr>
        <p:spPr>
          <a:xfrm>
            <a:off x="4572000" y="4526280"/>
            <a:ext cx="2926080" cy="502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2" name="text-259"/>
          <p:cNvSpPr txBox="1"/>
          <p:nvPr/>
        </p:nvSpPr>
        <p:spPr>
          <a:xfrm>
            <a:off x="4572000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❌ 错！是 2 个</a:t>
            </a:r>
            <a:endParaRPr lang="en-US" sz="2200" dirty="0"/>
          </a:p>
        </p:txBody>
      </p:sp>
      <p:sp>
        <p:nvSpPr>
          <p:cNvPr id="23" name="card-260"/>
          <p:cNvSpPr/>
          <p:nvPr/>
        </p:nvSpPr>
        <p:spPr>
          <a:xfrm>
            <a:off x="8046720" y="1417320"/>
            <a:ext cx="3474720" cy="3794760"/>
          </a:xfrm>
          <a:prstGeom prst="roundRect">
            <a:avLst>
              <a:gd name="adj" fmla="val 65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24" name="emoji-cookie-261" descr="cooki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1810512"/>
            <a:ext cx="384048" cy="384048"/>
          </a:xfrm>
          <a:prstGeom prst="rect">
            <a:avLst/>
          </a:prstGeom>
        </p:spPr>
      </p:pic>
      <p:pic>
        <p:nvPicPr>
          <p:cNvPr id="25" name="emoji-cookie-262" descr="cooki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1936" y="1810512"/>
            <a:ext cx="384048" cy="384048"/>
          </a:xfrm>
          <a:prstGeom prst="rect">
            <a:avLst/>
          </a:prstGeom>
        </p:spPr>
      </p:pic>
      <p:pic>
        <p:nvPicPr>
          <p:cNvPr id="26" name="emoji-cookie-263" descr="cooki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34272" y="1810512"/>
            <a:ext cx="384048" cy="384048"/>
          </a:xfrm>
          <a:prstGeom prst="rect">
            <a:avLst/>
          </a:prstGeom>
        </p:spPr>
      </p:pic>
      <p:pic>
        <p:nvPicPr>
          <p:cNvPr id="27" name="emoji-cookie-264" descr="cooki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6608" y="1810512"/>
            <a:ext cx="384048" cy="384048"/>
          </a:xfrm>
          <a:prstGeom prst="rect">
            <a:avLst/>
          </a:prstGeom>
        </p:spPr>
      </p:pic>
      <p:sp>
        <p:nvSpPr>
          <p:cNvPr id="28" name="text-265"/>
          <p:cNvSpPr txBox="1"/>
          <p:nvPr/>
        </p:nvSpPr>
        <p:spPr>
          <a:xfrm>
            <a:off x="9829800" y="169164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pic>
        <p:nvPicPr>
          <p:cNvPr id="29" name="emoji-cookie-266" descr="cooki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9840" y="1810512"/>
            <a:ext cx="384048" cy="384048"/>
          </a:xfrm>
          <a:prstGeom prst="rect">
            <a:avLst/>
          </a:prstGeom>
        </p:spPr>
      </p:pic>
      <p:pic>
        <p:nvPicPr>
          <p:cNvPr id="30" name="emoji-cookie-267" descr="cooki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52176" y="1810512"/>
            <a:ext cx="384048" cy="384048"/>
          </a:xfrm>
          <a:prstGeom prst="rect">
            <a:avLst/>
          </a:prstGeom>
        </p:spPr>
      </p:pic>
      <p:pic>
        <p:nvPicPr>
          <p:cNvPr id="31" name="emoji-cookie-268" descr="cooki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54512" y="1810512"/>
            <a:ext cx="384048" cy="384048"/>
          </a:xfrm>
          <a:prstGeom prst="rect">
            <a:avLst/>
          </a:prstGeom>
        </p:spPr>
      </p:pic>
      <p:sp>
        <p:nvSpPr>
          <p:cNvPr id="32" name="ai-says-269"/>
          <p:cNvSpPr/>
          <p:nvPr/>
        </p:nvSpPr>
        <p:spPr>
          <a:xfrm>
            <a:off x="8275320" y="2560320"/>
            <a:ext cx="1051560" cy="411480"/>
          </a:xfrm>
          <a:prstGeom prst="roundRect">
            <a:avLst>
              <a:gd name="adj" fmla="val 48889"/>
            </a:avLst>
          </a:prstGeom>
          <a:solidFill>
            <a:schemeClr val="accent4"/>
          </a:solidFill>
          <a:ln/>
        </p:spPr>
      </p:sp>
      <p:sp>
        <p:nvSpPr>
          <p:cNvPr id="33" name="text-270"/>
          <p:cNvSpPr txBox="1"/>
          <p:nvPr/>
        </p:nvSpPr>
        <p:spPr>
          <a:xfrm>
            <a:off x="8275320" y="25603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说</a:t>
            </a:r>
            <a:endParaRPr lang="en-US" sz="1600" dirty="0"/>
          </a:p>
        </p:txBody>
      </p:sp>
      <p:sp>
        <p:nvSpPr>
          <p:cNvPr id="34" name="text-271"/>
          <p:cNvSpPr txBox="1"/>
          <p:nvPr/>
        </p:nvSpPr>
        <p:spPr>
          <a:xfrm>
            <a:off x="8321040" y="30175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盘子里有 4 块饼干，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妈妈又拿来 3 块，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一共 7 块。</a:t>
            </a:r>
            <a:endParaRPr lang="en-US" sz="2200" dirty="0"/>
          </a:p>
        </p:txBody>
      </p:sp>
      <p:sp>
        <p:nvSpPr>
          <p:cNvPr id="35" name="stamp-272"/>
          <p:cNvSpPr/>
          <p:nvPr/>
        </p:nvSpPr>
        <p:spPr>
          <a:xfrm>
            <a:off x="8321040" y="4526280"/>
            <a:ext cx="2926080" cy="5029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6" name="text-273"/>
          <p:cNvSpPr txBox="1"/>
          <p:nvPr/>
        </p:nvSpPr>
        <p:spPr>
          <a:xfrm>
            <a:off x="8321040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⭕ 对！一共 7 块</a:t>
            </a:r>
            <a:endParaRPr lang="en-US" sz="2200" dirty="0"/>
          </a:p>
        </p:txBody>
      </p:sp>
      <p:pic>
        <p:nvPicPr>
          <p:cNvPr id="37" name="robot-274" descr="机器人小智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" y="5303520"/>
            <a:ext cx="735037" cy="1005840"/>
          </a:xfrm>
          <a:prstGeom prst="rect">
            <a:avLst/>
          </a:prstGeom>
        </p:spPr>
      </p:pic>
      <p:sp>
        <p:nvSpPr>
          <p:cNvPr id="38" name="bubble-tail-275"/>
          <p:cNvSpPr/>
          <p:nvPr/>
        </p:nvSpPr>
        <p:spPr>
          <a:xfrm rot="16200000">
            <a:off x="1463040" y="5623560"/>
            <a:ext cx="329184" cy="329184"/>
          </a:xfrm>
          <a:prstGeom prst="triangle">
            <a:avLst/>
          </a:prstGeom>
          <a:solidFill>
            <a:schemeClr val="bg1"/>
          </a:solidFill>
          <a:ln/>
        </p:spPr>
      </p:sp>
      <p:sp>
        <p:nvSpPr>
          <p:cNvPr id="39" name="bubble-276"/>
          <p:cNvSpPr/>
          <p:nvPr/>
        </p:nvSpPr>
        <p:spPr>
          <a:xfrm>
            <a:off x="1737360" y="5413248"/>
            <a:ext cx="7498080" cy="749808"/>
          </a:xfrm>
          <a:prstGeom prst="roundRect">
            <a:avLst>
              <a:gd name="adj" fmla="val 36585"/>
            </a:avLst>
          </a:prstGeom>
          <a:solidFill>
            <a:schemeClr val="bg1"/>
          </a:solidFill>
          <a:ln/>
        </p:spPr>
      </p:sp>
      <p:sp>
        <p:nvSpPr>
          <p:cNvPr id="40" name="text-277"/>
          <p:cNvSpPr txBox="1"/>
          <p:nvPr/>
        </p:nvSpPr>
        <p:spPr>
          <a:xfrm>
            <a:off x="1965960" y="5413248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AI 也会粗心，会数学的你，就是 AI 的小老师！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-278"/>
          <p:cNvSpPr/>
          <p:nvPr/>
        </p:nvSpPr>
        <p:spPr>
          <a:xfrm>
            <a:off x="822960" y="1143000"/>
            <a:ext cx="4206240" cy="4206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" name="emoji-abc-279" descr="ab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103120"/>
            <a:ext cx="2286000" cy="22860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0" y="21488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法宝三：英语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0" y="34290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</a:rPr>
              <a:t>会说英语，和全世界的 AI 交朋友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8C4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猜一猜：hot dog 是什么？</a:t>
            </a:r>
            <a:endParaRPr lang="en-US" sz="4000" dirty="0"/>
          </a:p>
        </p:txBody>
      </p:sp>
      <p:sp>
        <p:nvSpPr>
          <p:cNvPr id="3" name="card-280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1851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4" name="emoji-fire-281" descr="f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914400" cy="914400"/>
          </a:xfrm>
          <a:prstGeom prst="rect">
            <a:avLst/>
          </a:prstGeom>
        </p:spPr>
      </p:pic>
      <p:sp>
        <p:nvSpPr>
          <p:cNvPr id="5" name="text-282"/>
          <p:cNvSpPr txBox="1"/>
          <p:nvPr/>
        </p:nvSpPr>
        <p:spPr>
          <a:xfrm>
            <a:off x="1783080" y="14173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hot = 热</a:t>
            </a:r>
            <a:endParaRPr lang="en-US" sz="3200" dirty="0"/>
          </a:p>
        </p:txBody>
      </p:sp>
      <p:sp>
        <p:nvSpPr>
          <p:cNvPr id="6" name="text-283"/>
          <p:cNvSpPr txBox="1"/>
          <p:nvPr/>
        </p:nvSpPr>
        <p:spPr>
          <a:xfrm>
            <a:off x="3886200" y="141732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pic>
        <p:nvPicPr>
          <p:cNvPr id="7" name="emoji-dog-284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54480"/>
            <a:ext cx="914400" cy="914400"/>
          </a:xfrm>
          <a:prstGeom prst="rect">
            <a:avLst/>
          </a:prstGeom>
        </p:spPr>
      </p:pic>
      <p:sp>
        <p:nvSpPr>
          <p:cNvPr id="8" name="text-285"/>
          <p:cNvSpPr txBox="1"/>
          <p:nvPr/>
        </p:nvSpPr>
        <p:spPr>
          <a:xfrm>
            <a:off x="5440680" y="14173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dog = 狗</a:t>
            </a:r>
            <a:endParaRPr lang="en-US" sz="3200" dirty="0"/>
          </a:p>
        </p:txBody>
      </p:sp>
      <p:sp>
        <p:nvSpPr>
          <p:cNvPr id="9" name="text-286"/>
          <p:cNvSpPr txBox="1"/>
          <p:nvPr/>
        </p:nvSpPr>
        <p:spPr>
          <a:xfrm>
            <a:off x="7543800" y="141732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text-287"/>
          <p:cNvSpPr txBox="1"/>
          <p:nvPr/>
        </p:nvSpPr>
        <p:spPr>
          <a:xfrm>
            <a:off x="8229600" y="1417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hot dog = ？</a:t>
            </a:r>
            <a:endParaRPr lang="en-US" sz="3400" dirty="0"/>
          </a:p>
        </p:txBody>
      </p:sp>
      <p:sp>
        <p:nvSpPr>
          <p:cNvPr id="11" name="card-288"/>
          <p:cNvSpPr/>
          <p:nvPr/>
        </p:nvSpPr>
        <p:spPr>
          <a:xfrm>
            <a:off x="548640" y="2880360"/>
            <a:ext cx="3474720" cy="3246120"/>
          </a:xfrm>
          <a:prstGeom prst="roundRect">
            <a:avLst>
              <a:gd name="adj" fmla="val 70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2" name="circle-289"/>
          <p:cNvSpPr/>
          <p:nvPr/>
        </p:nvSpPr>
        <p:spPr>
          <a:xfrm>
            <a:off x="731520" y="301752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3" name="text-290"/>
          <p:cNvSpPr txBox="1"/>
          <p:nvPr/>
        </p:nvSpPr>
        <p:spPr>
          <a:xfrm>
            <a:off x="73152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pic>
        <p:nvPicPr>
          <p:cNvPr id="14" name="emoji-hot-291" descr="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200400"/>
            <a:ext cx="1051560" cy="1051560"/>
          </a:xfrm>
          <a:prstGeom prst="rect">
            <a:avLst/>
          </a:prstGeom>
        </p:spPr>
      </p:pic>
      <p:pic>
        <p:nvPicPr>
          <p:cNvPr id="15" name="emoji-dog-292" descr="do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3200400"/>
            <a:ext cx="1051560" cy="1051560"/>
          </a:xfrm>
          <a:prstGeom prst="rect">
            <a:avLst/>
          </a:prstGeom>
        </p:spPr>
      </p:pic>
      <p:sp>
        <p:nvSpPr>
          <p:cNvPr id="16" name="text-293"/>
          <p:cNvSpPr txBox="1"/>
          <p:nvPr/>
        </p:nvSpPr>
        <p:spPr>
          <a:xfrm>
            <a:off x="731520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一只热得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冒汗的小狗</a:t>
            </a:r>
            <a:endParaRPr lang="en-US" sz="2400" dirty="0"/>
          </a:p>
        </p:txBody>
      </p:sp>
      <p:sp>
        <p:nvSpPr>
          <p:cNvPr id="17" name="card-294"/>
          <p:cNvSpPr/>
          <p:nvPr/>
        </p:nvSpPr>
        <p:spPr>
          <a:xfrm>
            <a:off x="4297680" y="2880360"/>
            <a:ext cx="3474720" cy="3246120"/>
          </a:xfrm>
          <a:prstGeom prst="roundRect">
            <a:avLst>
              <a:gd name="adj" fmla="val 70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8" name="circle-295"/>
          <p:cNvSpPr/>
          <p:nvPr/>
        </p:nvSpPr>
        <p:spPr>
          <a:xfrm>
            <a:off x="4480560" y="301752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9" name="text-296"/>
          <p:cNvSpPr txBox="1"/>
          <p:nvPr/>
        </p:nvSpPr>
        <p:spPr>
          <a:xfrm>
            <a:off x="448056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pic>
        <p:nvPicPr>
          <p:cNvPr id="20" name="emoji-hotdog-297" descr="hotdo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108960"/>
            <a:ext cx="1371600" cy="1371600"/>
          </a:xfrm>
          <a:prstGeom prst="rect">
            <a:avLst/>
          </a:prstGeom>
        </p:spPr>
      </p:pic>
      <p:sp>
        <p:nvSpPr>
          <p:cNvPr id="21" name="text-298"/>
          <p:cNvSpPr txBox="1"/>
          <p:nvPr/>
        </p:nvSpPr>
        <p:spPr>
          <a:xfrm>
            <a:off x="4480560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夹着香肠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的面包</a:t>
            </a:r>
            <a:endParaRPr lang="en-US" sz="2400" dirty="0"/>
          </a:p>
        </p:txBody>
      </p:sp>
      <p:sp>
        <p:nvSpPr>
          <p:cNvPr id="22" name="card-299"/>
          <p:cNvSpPr/>
          <p:nvPr/>
        </p:nvSpPr>
        <p:spPr>
          <a:xfrm>
            <a:off x="8046720" y="2880360"/>
            <a:ext cx="3474720" cy="3246120"/>
          </a:xfrm>
          <a:prstGeom prst="roundRect">
            <a:avLst>
              <a:gd name="adj" fmla="val 70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23" name="circle-300"/>
          <p:cNvSpPr/>
          <p:nvPr/>
        </p:nvSpPr>
        <p:spPr>
          <a:xfrm>
            <a:off x="8229600" y="301752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4" name="text-301"/>
          <p:cNvSpPr txBox="1"/>
          <p:nvPr/>
        </p:nvSpPr>
        <p:spPr>
          <a:xfrm>
            <a:off x="822960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pic>
        <p:nvPicPr>
          <p:cNvPr id="25" name="emoji-chili-302" descr="chil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3200400"/>
            <a:ext cx="1051560" cy="1051560"/>
          </a:xfrm>
          <a:prstGeom prst="rect">
            <a:avLst/>
          </a:prstGeom>
        </p:spPr>
      </p:pic>
      <p:pic>
        <p:nvPicPr>
          <p:cNvPr id="26" name="emoji-dog-303" descr="do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3200400"/>
            <a:ext cx="1051560" cy="1051560"/>
          </a:xfrm>
          <a:prstGeom prst="rect">
            <a:avLst/>
          </a:prstGeom>
        </p:spPr>
      </p:pic>
      <p:sp>
        <p:nvSpPr>
          <p:cNvPr id="27" name="text-304"/>
          <p:cNvSpPr txBox="1"/>
          <p:nvPr/>
        </p:nvSpPr>
        <p:spPr>
          <a:xfrm>
            <a:off x="8229600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一只辣辣的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小狗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答案是②：hot dog 就是热狗面包！</a:t>
            </a:r>
            <a:endParaRPr lang="en-US" sz="4000" dirty="0"/>
          </a:p>
        </p:txBody>
      </p:sp>
      <p:sp>
        <p:nvSpPr>
          <p:cNvPr id="3" name="card-305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1851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4" name="emoji-fire-306" descr="f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914400" cy="914400"/>
          </a:xfrm>
          <a:prstGeom prst="rect">
            <a:avLst/>
          </a:prstGeom>
        </p:spPr>
      </p:pic>
      <p:sp>
        <p:nvSpPr>
          <p:cNvPr id="5" name="text-307"/>
          <p:cNvSpPr txBox="1"/>
          <p:nvPr/>
        </p:nvSpPr>
        <p:spPr>
          <a:xfrm>
            <a:off x="1783080" y="14173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hot = 热</a:t>
            </a:r>
            <a:endParaRPr lang="en-US" sz="3200" dirty="0"/>
          </a:p>
        </p:txBody>
      </p:sp>
      <p:sp>
        <p:nvSpPr>
          <p:cNvPr id="6" name="text-308"/>
          <p:cNvSpPr txBox="1"/>
          <p:nvPr/>
        </p:nvSpPr>
        <p:spPr>
          <a:xfrm>
            <a:off x="3886200" y="141732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pic>
        <p:nvPicPr>
          <p:cNvPr id="7" name="emoji-dog-309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54480"/>
            <a:ext cx="914400" cy="914400"/>
          </a:xfrm>
          <a:prstGeom prst="rect">
            <a:avLst/>
          </a:prstGeom>
        </p:spPr>
      </p:pic>
      <p:sp>
        <p:nvSpPr>
          <p:cNvPr id="8" name="text-310"/>
          <p:cNvSpPr txBox="1"/>
          <p:nvPr/>
        </p:nvSpPr>
        <p:spPr>
          <a:xfrm>
            <a:off x="5440680" y="14173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dog = 狗</a:t>
            </a:r>
            <a:endParaRPr lang="en-US" sz="3200" dirty="0"/>
          </a:p>
        </p:txBody>
      </p:sp>
      <p:sp>
        <p:nvSpPr>
          <p:cNvPr id="9" name="text-311"/>
          <p:cNvSpPr txBox="1"/>
          <p:nvPr/>
        </p:nvSpPr>
        <p:spPr>
          <a:xfrm>
            <a:off x="7543800" y="141732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text-312"/>
          <p:cNvSpPr txBox="1"/>
          <p:nvPr/>
        </p:nvSpPr>
        <p:spPr>
          <a:xfrm>
            <a:off x="8229600" y="1417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hot dog = ？</a:t>
            </a:r>
            <a:endParaRPr lang="en-US" sz="3400" dirty="0"/>
          </a:p>
        </p:txBody>
      </p:sp>
      <p:sp>
        <p:nvSpPr>
          <p:cNvPr id="11" name="card-313"/>
          <p:cNvSpPr/>
          <p:nvPr/>
        </p:nvSpPr>
        <p:spPr>
          <a:xfrm>
            <a:off x="548640" y="2880360"/>
            <a:ext cx="3474720" cy="3246120"/>
          </a:xfrm>
          <a:prstGeom prst="roundRect">
            <a:avLst>
              <a:gd name="adj" fmla="val 7042"/>
            </a:avLst>
          </a:prstGeom>
          <a:solidFill>
            <a:srgbClr val="E2E6F3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2" name="circle-314"/>
          <p:cNvSpPr/>
          <p:nvPr/>
        </p:nvSpPr>
        <p:spPr>
          <a:xfrm>
            <a:off x="731520" y="3017520"/>
            <a:ext cx="685800" cy="685800"/>
          </a:xfrm>
          <a:prstGeom prst="ellipse">
            <a:avLst/>
          </a:prstGeom>
          <a:solidFill>
            <a:srgbClr val="B8C4E8"/>
          </a:solidFill>
          <a:ln/>
        </p:spPr>
      </p:sp>
      <p:sp>
        <p:nvSpPr>
          <p:cNvPr id="13" name="text-315"/>
          <p:cNvSpPr txBox="1"/>
          <p:nvPr/>
        </p:nvSpPr>
        <p:spPr>
          <a:xfrm>
            <a:off x="73152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pic>
        <p:nvPicPr>
          <p:cNvPr id="14" name="emoji-hot-316" descr="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200400"/>
            <a:ext cx="1051560" cy="1051560"/>
          </a:xfrm>
          <a:prstGeom prst="rect">
            <a:avLst/>
          </a:prstGeom>
        </p:spPr>
      </p:pic>
      <p:pic>
        <p:nvPicPr>
          <p:cNvPr id="15" name="emoji-dog-317" descr="do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3200400"/>
            <a:ext cx="1051560" cy="1051560"/>
          </a:xfrm>
          <a:prstGeom prst="rect">
            <a:avLst/>
          </a:prstGeom>
        </p:spPr>
      </p:pic>
      <p:sp>
        <p:nvSpPr>
          <p:cNvPr id="16" name="text-318"/>
          <p:cNvSpPr txBox="1"/>
          <p:nvPr/>
        </p:nvSpPr>
        <p:spPr>
          <a:xfrm>
            <a:off x="731520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0B8"/>
                </a:solidFill>
              </a:rPr>
              <a:t>一只热得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A90B8"/>
                </a:solidFill>
              </a:rPr>
              <a:t>冒汗的小狗</a:t>
            </a:r>
            <a:endParaRPr lang="en-US" sz="2400" dirty="0"/>
          </a:p>
        </p:txBody>
      </p:sp>
      <p:sp>
        <p:nvSpPr>
          <p:cNvPr id="17" name="stamp-319"/>
          <p:cNvSpPr/>
          <p:nvPr/>
        </p:nvSpPr>
        <p:spPr>
          <a:xfrm>
            <a:off x="1280160" y="553212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8" name="text-320"/>
          <p:cNvSpPr txBox="1"/>
          <p:nvPr/>
        </p:nvSpPr>
        <p:spPr>
          <a:xfrm>
            <a:off x="1280160" y="5532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AI 闹的笑话</a:t>
            </a:r>
            <a:endParaRPr lang="en-US" sz="2200" dirty="0"/>
          </a:p>
        </p:txBody>
      </p:sp>
      <p:sp>
        <p:nvSpPr>
          <p:cNvPr id="19" name="card-321"/>
          <p:cNvSpPr/>
          <p:nvPr/>
        </p:nvSpPr>
        <p:spPr>
          <a:xfrm>
            <a:off x="4297680" y="2880360"/>
            <a:ext cx="3474720" cy="3246120"/>
          </a:xfrm>
          <a:prstGeom prst="roundRect">
            <a:avLst>
              <a:gd name="adj" fmla="val 70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20" name="circle-322"/>
          <p:cNvSpPr/>
          <p:nvPr/>
        </p:nvSpPr>
        <p:spPr>
          <a:xfrm>
            <a:off x="4480560" y="301752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text-323"/>
          <p:cNvSpPr txBox="1"/>
          <p:nvPr/>
        </p:nvSpPr>
        <p:spPr>
          <a:xfrm>
            <a:off x="448056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pic>
        <p:nvPicPr>
          <p:cNvPr id="22" name="emoji-hotdog-324" descr="hotdo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108960"/>
            <a:ext cx="1371600" cy="1371600"/>
          </a:xfrm>
          <a:prstGeom prst="rect">
            <a:avLst/>
          </a:prstGeom>
        </p:spPr>
      </p:pic>
      <p:sp>
        <p:nvSpPr>
          <p:cNvPr id="23" name="text-325"/>
          <p:cNvSpPr txBox="1"/>
          <p:nvPr/>
        </p:nvSpPr>
        <p:spPr>
          <a:xfrm>
            <a:off x="4480560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夹着香肠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的面包</a:t>
            </a:r>
            <a:endParaRPr lang="en-US" sz="2400" dirty="0"/>
          </a:p>
        </p:txBody>
      </p:sp>
      <p:sp>
        <p:nvSpPr>
          <p:cNvPr id="24" name="stamp-326"/>
          <p:cNvSpPr/>
          <p:nvPr/>
        </p:nvSpPr>
        <p:spPr>
          <a:xfrm>
            <a:off x="5029200" y="553212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5" name="text-327"/>
          <p:cNvSpPr txBox="1"/>
          <p:nvPr/>
        </p:nvSpPr>
        <p:spPr>
          <a:xfrm>
            <a:off x="5029200" y="5532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⭕ 就是它！</a:t>
            </a:r>
            <a:endParaRPr lang="en-US" sz="2200" dirty="0"/>
          </a:p>
        </p:txBody>
      </p:sp>
      <p:sp>
        <p:nvSpPr>
          <p:cNvPr id="26" name="card-328"/>
          <p:cNvSpPr/>
          <p:nvPr/>
        </p:nvSpPr>
        <p:spPr>
          <a:xfrm>
            <a:off x="8046720" y="2880360"/>
            <a:ext cx="3474720" cy="3246120"/>
          </a:xfrm>
          <a:prstGeom prst="roundRect">
            <a:avLst>
              <a:gd name="adj" fmla="val 7042"/>
            </a:avLst>
          </a:prstGeom>
          <a:solidFill>
            <a:srgbClr val="E2E6F3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27" name="circle-329"/>
          <p:cNvSpPr/>
          <p:nvPr/>
        </p:nvSpPr>
        <p:spPr>
          <a:xfrm>
            <a:off x="8229600" y="3017520"/>
            <a:ext cx="685800" cy="685800"/>
          </a:xfrm>
          <a:prstGeom prst="ellipse">
            <a:avLst/>
          </a:prstGeom>
          <a:solidFill>
            <a:srgbClr val="B8C4E8"/>
          </a:solidFill>
          <a:ln/>
        </p:spPr>
      </p:sp>
      <p:sp>
        <p:nvSpPr>
          <p:cNvPr id="28" name="text-330"/>
          <p:cNvSpPr txBox="1"/>
          <p:nvPr/>
        </p:nvSpPr>
        <p:spPr>
          <a:xfrm>
            <a:off x="822960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pic>
        <p:nvPicPr>
          <p:cNvPr id="29" name="emoji-chili-331" descr="chil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3200400"/>
            <a:ext cx="1051560" cy="1051560"/>
          </a:xfrm>
          <a:prstGeom prst="rect">
            <a:avLst/>
          </a:prstGeom>
        </p:spPr>
      </p:pic>
      <p:pic>
        <p:nvPicPr>
          <p:cNvPr id="30" name="emoji-dog-332" descr="do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3200400"/>
            <a:ext cx="1051560" cy="1051560"/>
          </a:xfrm>
          <a:prstGeom prst="rect">
            <a:avLst/>
          </a:prstGeom>
        </p:spPr>
      </p:pic>
      <p:sp>
        <p:nvSpPr>
          <p:cNvPr id="31" name="text-333"/>
          <p:cNvSpPr txBox="1"/>
          <p:nvPr/>
        </p:nvSpPr>
        <p:spPr>
          <a:xfrm>
            <a:off x="8229600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0B8"/>
                </a:solidFill>
              </a:rPr>
              <a:t>一只辣辣的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A90B8"/>
                </a:solidFill>
              </a:rPr>
              <a:t>小狗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游戏：Robot, please!</a:t>
            </a:r>
            <a:endParaRPr lang="en-US" sz="4000" dirty="0"/>
          </a:p>
        </p:txBody>
      </p:sp>
      <p:sp>
        <p:nvSpPr>
          <p:cNvPr id="3" name="card-334"/>
          <p:cNvSpPr/>
          <p:nvPr/>
        </p:nvSpPr>
        <p:spPr>
          <a:xfrm>
            <a:off x="548640" y="1417320"/>
            <a:ext cx="246888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4" name="emoji-standing-335" descr="stan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00200"/>
            <a:ext cx="914400" cy="914400"/>
          </a:xfrm>
          <a:prstGeom prst="rect">
            <a:avLst/>
          </a:prstGeom>
        </p:spPr>
      </p:pic>
      <p:sp>
        <p:nvSpPr>
          <p:cNvPr id="5" name="text-336"/>
          <p:cNvSpPr txBox="1"/>
          <p:nvPr/>
        </p:nvSpPr>
        <p:spPr>
          <a:xfrm>
            <a:off x="64008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up!</a:t>
            </a:r>
            <a:endParaRPr lang="en-US" sz="2200" dirty="0"/>
          </a:p>
        </p:txBody>
      </p:sp>
      <p:sp>
        <p:nvSpPr>
          <p:cNvPr id="6" name="text-337"/>
          <p:cNvSpPr txBox="1"/>
          <p:nvPr/>
        </p:nvSpPr>
        <p:spPr>
          <a:xfrm>
            <a:off x="64008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站起来</a:t>
            </a:r>
            <a:endParaRPr lang="en-US" sz="1800" dirty="0"/>
          </a:p>
        </p:txBody>
      </p:sp>
      <p:sp>
        <p:nvSpPr>
          <p:cNvPr id="7" name="card-338"/>
          <p:cNvSpPr/>
          <p:nvPr/>
        </p:nvSpPr>
        <p:spPr>
          <a:xfrm>
            <a:off x="3246120" y="1417320"/>
            <a:ext cx="246888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8" name="emoji-chair-339" descr="cha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600200"/>
            <a:ext cx="914400" cy="914400"/>
          </a:xfrm>
          <a:prstGeom prst="rect">
            <a:avLst/>
          </a:prstGeom>
        </p:spPr>
      </p:pic>
      <p:sp>
        <p:nvSpPr>
          <p:cNvPr id="9" name="text-340"/>
          <p:cNvSpPr txBox="1"/>
          <p:nvPr/>
        </p:nvSpPr>
        <p:spPr>
          <a:xfrm>
            <a:off x="333756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 down!</a:t>
            </a:r>
            <a:endParaRPr lang="en-US" sz="2200" dirty="0"/>
          </a:p>
        </p:txBody>
      </p:sp>
      <p:sp>
        <p:nvSpPr>
          <p:cNvPr id="10" name="text-341"/>
          <p:cNvSpPr txBox="1"/>
          <p:nvPr/>
        </p:nvSpPr>
        <p:spPr>
          <a:xfrm>
            <a:off x="333756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坐下</a:t>
            </a:r>
            <a:endParaRPr lang="en-US" sz="1800" dirty="0"/>
          </a:p>
        </p:txBody>
      </p:sp>
      <p:sp>
        <p:nvSpPr>
          <p:cNvPr id="11" name="card-342"/>
          <p:cNvSpPr/>
          <p:nvPr/>
        </p:nvSpPr>
        <p:spPr>
          <a:xfrm>
            <a:off x="5943600" y="1417320"/>
            <a:ext cx="246888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12" name="emoji-kangaroo-343" descr="kangaro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00200"/>
            <a:ext cx="914400" cy="914400"/>
          </a:xfrm>
          <a:prstGeom prst="rect">
            <a:avLst/>
          </a:prstGeom>
        </p:spPr>
      </p:pic>
      <p:sp>
        <p:nvSpPr>
          <p:cNvPr id="13" name="text-344"/>
          <p:cNvSpPr txBox="1"/>
          <p:nvPr/>
        </p:nvSpPr>
        <p:spPr>
          <a:xfrm>
            <a:off x="603504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Jump!</a:t>
            </a:r>
            <a:endParaRPr lang="en-US" sz="2200" dirty="0"/>
          </a:p>
        </p:txBody>
      </p:sp>
      <p:sp>
        <p:nvSpPr>
          <p:cNvPr id="14" name="text-345"/>
          <p:cNvSpPr txBox="1"/>
          <p:nvPr/>
        </p:nvSpPr>
        <p:spPr>
          <a:xfrm>
            <a:off x="603504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跳一跳</a:t>
            </a:r>
            <a:endParaRPr lang="en-US" sz="1800" dirty="0"/>
          </a:p>
        </p:txBody>
      </p:sp>
      <p:sp>
        <p:nvSpPr>
          <p:cNvPr id="15" name="card-346"/>
          <p:cNvSpPr/>
          <p:nvPr/>
        </p:nvSpPr>
        <p:spPr>
          <a:xfrm>
            <a:off x="548640" y="3794760"/>
            <a:ext cx="246888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16" name="emoji-clap-347" descr="cl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977640"/>
            <a:ext cx="914400" cy="914400"/>
          </a:xfrm>
          <a:prstGeom prst="rect">
            <a:avLst/>
          </a:prstGeom>
        </p:spPr>
      </p:pic>
      <p:sp>
        <p:nvSpPr>
          <p:cNvPr id="17" name="text-348"/>
          <p:cNvSpPr txBox="1"/>
          <p:nvPr/>
        </p:nvSpPr>
        <p:spPr>
          <a:xfrm>
            <a:off x="64008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Clap your hands!</a:t>
            </a:r>
            <a:endParaRPr lang="en-US" sz="1900" dirty="0"/>
          </a:p>
        </p:txBody>
      </p:sp>
      <p:sp>
        <p:nvSpPr>
          <p:cNvPr id="18" name="text-349"/>
          <p:cNvSpPr txBox="1"/>
          <p:nvPr/>
        </p:nvSpPr>
        <p:spPr>
          <a:xfrm>
            <a:off x="640080" y="5422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拍拍手</a:t>
            </a:r>
            <a:endParaRPr lang="en-US" sz="1800" dirty="0"/>
          </a:p>
        </p:txBody>
      </p:sp>
      <p:sp>
        <p:nvSpPr>
          <p:cNvPr id="19" name="card-350"/>
          <p:cNvSpPr/>
          <p:nvPr/>
        </p:nvSpPr>
        <p:spPr>
          <a:xfrm>
            <a:off x="3246120" y="3794760"/>
            <a:ext cx="246888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20" name="emoji-nose-351" descr="no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977640"/>
            <a:ext cx="914400" cy="914400"/>
          </a:xfrm>
          <a:prstGeom prst="rect">
            <a:avLst/>
          </a:prstGeom>
        </p:spPr>
      </p:pic>
      <p:sp>
        <p:nvSpPr>
          <p:cNvPr id="21" name="text-352"/>
          <p:cNvSpPr txBox="1"/>
          <p:nvPr/>
        </p:nvSpPr>
        <p:spPr>
          <a:xfrm>
            <a:off x="333756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your nose!</a:t>
            </a:r>
            <a:endParaRPr lang="en-US" sz="1900" dirty="0"/>
          </a:p>
        </p:txBody>
      </p:sp>
      <p:sp>
        <p:nvSpPr>
          <p:cNvPr id="22" name="text-353"/>
          <p:cNvSpPr txBox="1"/>
          <p:nvPr/>
        </p:nvSpPr>
        <p:spPr>
          <a:xfrm>
            <a:off x="3337560" y="5422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摸鼻子</a:t>
            </a:r>
            <a:endParaRPr lang="en-US" sz="1800" dirty="0"/>
          </a:p>
        </p:txBody>
      </p:sp>
      <p:sp>
        <p:nvSpPr>
          <p:cNvPr id="23" name="card-354"/>
          <p:cNvSpPr/>
          <p:nvPr/>
        </p:nvSpPr>
        <p:spPr>
          <a:xfrm>
            <a:off x="5943600" y="3794760"/>
            <a:ext cx="2468880" cy="2148840"/>
          </a:xfrm>
          <a:prstGeom prst="roundRect">
            <a:avLst>
              <a:gd name="adj" fmla="val 10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24" name="emoji-turn-355" descr="tur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3977640"/>
            <a:ext cx="914400" cy="914400"/>
          </a:xfrm>
          <a:prstGeom prst="rect">
            <a:avLst/>
          </a:prstGeom>
        </p:spPr>
      </p:pic>
      <p:sp>
        <p:nvSpPr>
          <p:cNvPr id="25" name="text-356"/>
          <p:cNvSpPr txBox="1"/>
          <p:nvPr/>
        </p:nvSpPr>
        <p:spPr>
          <a:xfrm>
            <a:off x="603504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around!</a:t>
            </a:r>
            <a:endParaRPr lang="en-US" sz="2200" dirty="0"/>
          </a:p>
        </p:txBody>
      </p:sp>
      <p:sp>
        <p:nvSpPr>
          <p:cNvPr id="26" name="text-357"/>
          <p:cNvSpPr txBox="1"/>
          <p:nvPr/>
        </p:nvSpPr>
        <p:spPr>
          <a:xfrm>
            <a:off x="6035040" y="5422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F8F"/>
                </a:solidFill>
              </a:rPr>
              <a:t>转个圈</a:t>
            </a:r>
            <a:endParaRPr lang="en-US" sz="1800" dirty="0"/>
          </a:p>
        </p:txBody>
      </p:sp>
      <p:sp>
        <p:nvSpPr>
          <p:cNvPr id="27" name="card-358"/>
          <p:cNvSpPr/>
          <p:nvPr/>
        </p:nvSpPr>
        <p:spPr>
          <a:xfrm>
            <a:off x="8732520" y="1417320"/>
            <a:ext cx="2880360" cy="4526280"/>
          </a:xfrm>
          <a:prstGeom prst="roundRect">
            <a:avLst>
              <a:gd name="adj" fmla="val 793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28" name="robot-359" descr="机器人小智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1600200"/>
            <a:ext cx="1737360" cy="2377440"/>
          </a:xfrm>
          <a:prstGeom prst="rect">
            <a:avLst/>
          </a:prstGeom>
        </p:spPr>
      </p:pic>
      <p:sp>
        <p:nvSpPr>
          <p:cNvPr id="29" name="text-360"/>
          <p:cNvSpPr txBox="1"/>
          <p:nvPr/>
        </p:nvSpPr>
        <p:spPr>
          <a:xfrm>
            <a:off x="8869680" y="40233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说英语：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机器人照做！</a:t>
            </a:r>
            <a:endParaRPr lang="en-US" sz="2000" dirty="0"/>
          </a:p>
        </p:txBody>
      </p:sp>
      <p:sp>
        <p:nvSpPr>
          <p:cNvPr id="30" name="text-361"/>
          <p:cNvSpPr txBox="1"/>
          <p:nvPr/>
        </p:nvSpPr>
        <p:spPr>
          <a:xfrm>
            <a:off x="8869680" y="489204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说中文：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“Beep! I don’t understand!”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我找到了三件法宝！</a:t>
            </a:r>
            <a:endParaRPr lang="en-US" sz="4400" dirty="0"/>
          </a:p>
        </p:txBody>
      </p:sp>
      <p:sp>
        <p:nvSpPr>
          <p:cNvPr id="3" name="treasure-362"/>
          <p:cNvSpPr/>
          <p:nvPr/>
        </p:nvSpPr>
        <p:spPr>
          <a:xfrm>
            <a:off x="548640" y="1463040"/>
            <a:ext cx="2788920" cy="4572000"/>
          </a:xfrm>
          <a:prstGeom prst="roundRect">
            <a:avLst>
              <a:gd name="adj" fmla="val 9836"/>
            </a:avLst>
          </a:prstGeom>
          <a:solidFill>
            <a:schemeClr val="accent2"/>
          </a:solidFill>
          <a:ln/>
        </p:spPr>
      </p:sp>
      <p:sp>
        <p:nvSpPr>
          <p:cNvPr id="4" name="circle-363"/>
          <p:cNvSpPr/>
          <p:nvPr/>
        </p:nvSpPr>
        <p:spPr>
          <a:xfrm>
            <a:off x="1143000" y="1737360"/>
            <a:ext cx="1600200" cy="1600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emoji-books-364" descr="boo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029968"/>
            <a:ext cx="1005840" cy="1005840"/>
          </a:xfrm>
          <a:prstGeom prst="rect">
            <a:avLst/>
          </a:prstGeom>
        </p:spPr>
      </p:pic>
      <p:sp>
        <p:nvSpPr>
          <p:cNvPr id="6" name="text-365"/>
          <p:cNvSpPr txBox="1"/>
          <p:nvPr/>
        </p:nvSpPr>
        <p:spPr>
          <a:xfrm>
            <a:off x="548640" y="35204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语文</a:t>
            </a:r>
            <a:endParaRPr lang="en-US" sz="3800" dirty="0"/>
          </a:p>
        </p:txBody>
      </p:sp>
      <p:sp>
        <p:nvSpPr>
          <p:cNvPr id="7" name="text-366"/>
          <p:cNvSpPr txBox="1"/>
          <p:nvPr/>
        </p:nvSpPr>
        <p:spPr>
          <a:xfrm>
            <a:off x="685800" y="42976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说清楚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AI 听得懂</a:t>
            </a:r>
            <a:endParaRPr lang="en-US" sz="2400" dirty="0"/>
          </a:p>
        </p:txBody>
      </p:sp>
      <p:sp>
        <p:nvSpPr>
          <p:cNvPr id="8" name="treasure-367"/>
          <p:cNvSpPr/>
          <p:nvPr/>
        </p:nvSpPr>
        <p:spPr>
          <a:xfrm>
            <a:off x="3611880" y="1463040"/>
            <a:ext cx="2788920" cy="4572000"/>
          </a:xfrm>
          <a:prstGeom prst="roundRect">
            <a:avLst>
              <a:gd name="adj" fmla="val 9836"/>
            </a:avLst>
          </a:prstGeom>
          <a:solidFill>
            <a:schemeClr val="accent3"/>
          </a:solidFill>
          <a:ln/>
        </p:spPr>
      </p:sp>
      <p:sp>
        <p:nvSpPr>
          <p:cNvPr id="9" name="circle-368"/>
          <p:cNvSpPr/>
          <p:nvPr/>
        </p:nvSpPr>
        <p:spPr>
          <a:xfrm>
            <a:off x="4206240" y="1737360"/>
            <a:ext cx="1600200" cy="1600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emoji-numbers-369" descr="numb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029968"/>
            <a:ext cx="1005840" cy="1005840"/>
          </a:xfrm>
          <a:prstGeom prst="rect">
            <a:avLst/>
          </a:prstGeom>
        </p:spPr>
      </p:pic>
      <p:sp>
        <p:nvSpPr>
          <p:cNvPr id="11" name="text-370"/>
          <p:cNvSpPr txBox="1"/>
          <p:nvPr/>
        </p:nvSpPr>
        <p:spPr>
          <a:xfrm>
            <a:off x="3611880" y="35204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数学</a:t>
            </a:r>
            <a:endParaRPr lang="en-US" sz="3800" dirty="0"/>
          </a:p>
        </p:txBody>
      </p:sp>
      <p:sp>
        <p:nvSpPr>
          <p:cNvPr id="12" name="text-371"/>
          <p:cNvSpPr txBox="1"/>
          <p:nvPr/>
        </p:nvSpPr>
        <p:spPr>
          <a:xfrm>
            <a:off x="3749040" y="42976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会检查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AI 错了我知道</a:t>
            </a:r>
            <a:endParaRPr lang="en-US" sz="2400" dirty="0"/>
          </a:p>
        </p:txBody>
      </p:sp>
      <p:sp>
        <p:nvSpPr>
          <p:cNvPr id="13" name="treasure-372"/>
          <p:cNvSpPr/>
          <p:nvPr/>
        </p:nvSpPr>
        <p:spPr>
          <a:xfrm>
            <a:off x="6675120" y="1463040"/>
            <a:ext cx="2788920" cy="4572000"/>
          </a:xfrm>
          <a:prstGeom prst="roundRect">
            <a:avLst>
              <a:gd name="adj" fmla="val 9836"/>
            </a:avLst>
          </a:prstGeom>
          <a:solidFill>
            <a:schemeClr val="accent4"/>
          </a:solidFill>
          <a:ln/>
        </p:spPr>
      </p:sp>
      <p:sp>
        <p:nvSpPr>
          <p:cNvPr id="14" name="circle-373"/>
          <p:cNvSpPr/>
          <p:nvPr/>
        </p:nvSpPr>
        <p:spPr>
          <a:xfrm>
            <a:off x="7269480" y="1737360"/>
            <a:ext cx="1600200" cy="1600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emoji-abc-374" descr="ab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2029968"/>
            <a:ext cx="1005840" cy="1005840"/>
          </a:xfrm>
          <a:prstGeom prst="rect">
            <a:avLst/>
          </a:prstGeom>
        </p:spPr>
      </p:pic>
      <p:sp>
        <p:nvSpPr>
          <p:cNvPr id="16" name="text-375"/>
          <p:cNvSpPr txBox="1"/>
          <p:nvPr/>
        </p:nvSpPr>
        <p:spPr>
          <a:xfrm>
            <a:off x="6675120" y="35204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英语</a:t>
            </a:r>
            <a:endParaRPr lang="en-US" sz="3800" dirty="0"/>
          </a:p>
        </p:txBody>
      </p:sp>
      <p:sp>
        <p:nvSpPr>
          <p:cNvPr id="17" name="text-376"/>
          <p:cNvSpPr txBox="1"/>
          <p:nvPr/>
        </p:nvSpPr>
        <p:spPr>
          <a:xfrm>
            <a:off x="6812280" y="42976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会英语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世界朋友多</a:t>
            </a:r>
            <a:endParaRPr lang="en-US" sz="2400" dirty="0"/>
          </a:p>
        </p:txBody>
      </p:sp>
      <p:pic>
        <p:nvPicPr>
          <p:cNvPr id="18" name="robot-377" descr="机器人小智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148840"/>
            <a:ext cx="2405575" cy="3291840"/>
          </a:xfrm>
          <a:prstGeom prst="rect">
            <a:avLst/>
          </a:prstGeom>
        </p:spPr>
      </p:pic>
      <p:pic>
        <p:nvPicPr>
          <p:cNvPr id="19" name="emoji-trophy-378" descr="troph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1325880"/>
            <a:ext cx="822960" cy="822960"/>
          </a:xfrm>
          <a:prstGeom prst="rect">
            <a:avLst/>
          </a:prstGeom>
        </p:spPr>
      </p:pic>
      <p:pic>
        <p:nvPicPr>
          <p:cNvPr id="20" name="emoji-sparkles-379" descr="sparkl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146304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8C4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和 AI 做朋友的四个约定</a:t>
            </a:r>
            <a:endParaRPr lang="en-US" sz="4000" dirty="0"/>
          </a:p>
        </p:txBody>
      </p:sp>
      <p:sp>
        <p:nvSpPr>
          <p:cNvPr id="3" name="card-380"/>
          <p:cNvSpPr/>
          <p:nvPr/>
        </p:nvSpPr>
        <p:spPr>
          <a:xfrm>
            <a:off x="548640" y="1463040"/>
            <a:ext cx="5440680" cy="205740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4" name="circle-381"/>
          <p:cNvSpPr/>
          <p:nvPr/>
        </p:nvSpPr>
        <p:spPr>
          <a:xfrm>
            <a:off x="822960" y="1847088"/>
            <a:ext cx="1280160" cy="1280160"/>
          </a:xfrm>
          <a:prstGeom prst="ellipse">
            <a:avLst/>
          </a:prstGeom>
          <a:solidFill>
            <a:schemeClr val="accent5">
              <a:alpha val="25000"/>
            </a:schemeClr>
          </a:solidFill>
          <a:ln/>
        </p:spPr>
      </p:sp>
      <p:pic>
        <p:nvPicPr>
          <p:cNvPr id="5" name="emoji-brain-382" descr="br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090318"/>
            <a:ext cx="793699" cy="793699"/>
          </a:xfrm>
          <a:prstGeom prst="rect">
            <a:avLst/>
          </a:prstGeom>
        </p:spPr>
      </p:pic>
      <p:sp>
        <p:nvSpPr>
          <p:cNvPr id="6" name="text-383"/>
          <p:cNvSpPr txBox="1"/>
          <p:nvPr/>
        </p:nvSpPr>
        <p:spPr>
          <a:xfrm>
            <a:off x="233172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作业自己做</a:t>
            </a:r>
            <a:endParaRPr lang="en-US" sz="3000" dirty="0"/>
          </a:p>
        </p:txBody>
      </p:sp>
      <p:sp>
        <p:nvSpPr>
          <p:cNvPr id="7" name="text-384"/>
          <p:cNvSpPr txBox="1"/>
          <p:nvPr/>
        </p:nvSpPr>
        <p:spPr>
          <a:xfrm>
            <a:off x="2331720" y="25146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5F8F"/>
                </a:solidFill>
              </a:rPr>
              <a:t>AI 是好帮手，不是“替手”</a:t>
            </a:r>
            <a:endParaRPr lang="en-US" sz="2000" dirty="0"/>
          </a:p>
        </p:txBody>
      </p:sp>
      <p:sp>
        <p:nvSpPr>
          <p:cNvPr id="8" name="card-385"/>
          <p:cNvSpPr/>
          <p:nvPr/>
        </p:nvSpPr>
        <p:spPr>
          <a:xfrm>
            <a:off x="6172200" y="1463040"/>
            <a:ext cx="5440680" cy="205740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9" name="circle-386"/>
          <p:cNvSpPr/>
          <p:nvPr/>
        </p:nvSpPr>
        <p:spPr>
          <a:xfrm>
            <a:off x="6446520" y="1847088"/>
            <a:ext cx="1280160" cy="1280160"/>
          </a:xfrm>
          <a:prstGeom prst="ellipse">
            <a:avLst/>
          </a:prstGeom>
          <a:solidFill>
            <a:schemeClr val="accent6">
              <a:alpha val="25000"/>
            </a:schemeClr>
          </a:solidFill>
          <a:ln/>
        </p:spPr>
      </p:sp>
      <p:pic>
        <p:nvPicPr>
          <p:cNvPr id="10" name="emoji-family-387" descr="fami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750" y="2090318"/>
            <a:ext cx="793699" cy="793699"/>
          </a:xfrm>
          <a:prstGeom prst="rect">
            <a:avLst/>
          </a:prstGeom>
        </p:spPr>
      </p:pic>
      <p:sp>
        <p:nvSpPr>
          <p:cNvPr id="11" name="text-388"/>
          <p:cNvSpPr txBox="1"/>
          <p:nvPr/>
        </p:nvSpPr>
        <p:spPr>
          <a:xfrm>
            <a:off x="795528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大人陪着用</a:t>
            </a:r>
            <a:endParaRPr lang="en-US" sz="3000" dirty="0"/>
          </a:p>
        </p:txBody>
      </p:sp>
      <p:sp>
        <p:nvSpPr>
          <p:cNvPr id="12" name="text-389"/>
          <p:cNvSpPr txBox="1"/>
          <p:nvPr/>
        </p:nvSpPr>
        <p:spPr>
          <a:xfrm>
            <a:off x="7955280" y="25146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5F8F"/>
                </a:solidFill>
              </a:rPr>
              <a:t>用 AI 时，爸爸妈妈在身边</a:t>
            </a:r>
            <a:endParaRPr lang="en-US" sz="2000" dirty="0"/>
          </a:p>
        </p:txBody>
      </p:sp>
      <p:sp>
        <p:nvSpPr>
          <p:cNvPr id="13" name="card-390"/>
          <p:cNvSpPr/>
          <p:nvPr/>
        </p:nvSpPr>
        <p:spPr>
          <a:xfrm>
            <a:off x="548640" y="3794760"/>
            <a:ext cx="5440680" cy="205740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4" name="circle-391"/>
          <p:cNvSpPr/>
          <p:nvPr/>
        </p:nvSpPr>
        <p:spPr>
          <a:xfrm>
            <a:off x="822960" y="4178808"/>
            <a:ext cx="1280160" cy="128016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pic>
        <p:nvPicPr>
          <p:cNvPr id="15" name="emoji-shush-392" descr="shu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4422038"/>
            <a:ext cx="793699" cy="793699"/>
          </a:xfrm>
          <a:prstGeom prst="rect">
            <a:avLst/>
          </a:prstGeom>
        </p:spPr>
      </p:pic>
      <p:sp>
        <p:nvSpPr>
          <p:cNvPr id="16" name="text-393"/>
          <p:cNvSpPr txBox="1"/>
          <p:nvPr/>
        </p:nvSpPr>
        <p:spPr>
          <a:xfrm>
            <a:off x="2331720" y="4114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秘密不告诉</a:t>
            </a:r>
            <a:endParaRPr lang="en-US" sz="3000" dirty="0"/>
          </a:p>
        </p:txBody>
      </p:sp>
      <p:sp>
        <p:nvSpPr>
          <p:cNvPr id="17" name="text-394"/>
          <p:cNvSpPr txBox="1"/>
          <p:nvPr/>
        </p:nvSpPr>
        <p:spPr>
          <a:xfrm>
            <a:off x="2331720" y="48463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5F8F"/>
                </a:solidFill>
              </a:rPr>
              <a:t>姓名、电话、住址不告诉 AI</a:t>
            </a:r>
            <a:endParaRPr lang="en-US" sz="2000" dirty="0"/>
          </a:p>
        </p:txBody>
      </p:sp>
      <p:sp>
        <p:nvSpPr>
          <p:cNvPr id="18" name="card-395"/>
          <p:cNvSpPr/>
          <p:nvPr/>
        </p:nvSpPr>
        <p:spPr>
          <a:xfrm>
            <a:off x="6172200" y="3794760"/>
            <a:ext cx="5440680" cy="205740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sp>
        <p:nvSpPr>
          <p:cNvPr id="19" name="circle-396"/>
          <p:cNvSpPr/>
          <p:nvPr/>
        </p:nvSpPr>
        <p:spPr>
          <a:xfrm>
            <a:off x="6446520" y="4178808"/>
            <a:ext cx="1280160" cy="1280160"/>
          </a:xfrm>
          <a:prstGeom prst="ellipse">
            <a:avLst/>
          </a:prstGeom>
          <a:solidFill>
            <a:schemeClr val="accent3">
              <a:alpha val="25000"/>
            </a:schemeClr>
          </a:solidFill>
          <a:ln/>
        </p:spPr>
      </p:sp>
      <p:pic>
        <p:nvPicPr>
          <p:cNvPr id="20" name="emoji-think-397" descr="thi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4422038"/>
            <a:ext cx="793699" cy="793699"/>
          </a:xfrm>
          <a:prstGeom prst="rect">
            <a:avLst/>
          </a:prstGeom>
        </p:spPr>
      </p:pic>
      <p:sp>
        <p:nvSpPr>
          <p:cNvPr id="21" name="text-398"/>
          <p:cNvSpPr txBox="1"/>
          <p:nvPr/>
        </p:nvSpPr>
        <p:spPr>
          <a:xfrm>
            <a:off x="7955280" y="4114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动脑想一想</a:t>
            </a:r>
            <a:endParaRPr lang="en-US" sz="3000" dirty="0"/>
          </a:p>
        </p:txBody>
      </p:sp>
      <p:sp>
        <p:nvSpPr>
          <p:cNvPr id="22" name="text-399"/>
          <p:cNvSpPr txBox="1"/>
          <p:nvPr/>
        </p:nvSpPr>
        <p:spPr>
          <a:xfrm>
            <a:off x="7955280" y="48463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5F8F"/>
                </a:solidFill>
              </a:rPr>
              <a:t>AI 说的话，不一定都对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一起拍手念口诀</a:t>
            </a:r>
            <a:endParaRPr lang="en-US" sz="4000" dirty="0"/>
          </a:p>
        </p:txBody>
      </p:sp>
      <p:sp>
        <p:nvSpPr>
          <p:cNvPr id="3" name="card-400"/>
          <p:cNvSpPr/>
          <p:nvPr/>
        </p:nvSpPr>
        <p:spPr>
          <a:xfrm>
            <a:off x="548640" y="1463040"/>
            <a:ext cx="7863840" cy="45720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D2A6E">
                <a:alpha val="14000"/>
              </a:srgbClr>
            </a:outerShdw>
          </a:effectLst>
        </p:spPr>
      </p:sp>
      <p:pic>
        <p:nvPicPr>
          <p:cNvPr id="4" name="emoji-clap-401" descr="cl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777240" cy="777240"/>
          </a:xfrm>
          <a:prstGeom prst="rect">
            <a:avLst/>
          </a:prstGeom>
        </p:spPr>
      </p:pic>
      <p:sp>
        <p:nvSpPr>
          <p:cNvPr id="5" name="text-402"/>
          <p:cNvSpPr txBox="1"/>
          <p:nvPr/>
        </p:nvSpPr>
        <p:spPr>
          <a:xfrm>
            <a:off x="1920240" y="178308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AI 好帮手，</a:t>
            </a:r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学习靠自己；</a:t>
            </a:r>
            <a:endParaRPr lang="en-US" sz="4000" dirty="0"/>
          </a:p>
        </p:txBody>
      </p:sp>
      <p:pic>
        <p:nvPicPr>
          <p:cNvPr id="6" name="emoji-clap-403" descr="cl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777240" cy="777240"/>
          </a:xfrm>
          <a:prstGeom prst="rect">
            <a:avLst/>
          </a:prstGeom>
        </p:spPr>
      </p:pic>
      <p:sp>
        <p:nvSpPr>
          <p:cNvPr id="7" name="text-404"/>
          <p:cNvSpPr txBox="1"/>
          <p:nvPr/>
        </p:nvSpPr>
        <p:spPr>
          <a:xfrm>
            <a:off x="1920240" y="315468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说话要清楚，</a:t>
            </a:r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算数要仔细；</a:t>
            </a:r>
            <a:endParaRPr lang="en-US" sz="4000" dirty="0"/>
          </a:p>
        </p:txBody>
      </p:sp>
      <p:pic>
        <p:nvPicPr>
          <p:cNvPr id="8" name="emoji-clap-405" descr="cl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63440"/>
            <a:ext cx="777240" cy="777240"/>
          </a:xfrm>
          <a:prstGeom prst="rect">
            <a:avLst/>
          </a:prstGeom>
        </p:spPr>
      </p:pic>
      <p:sp>
        <p:nvSpPr>
          <p:cNvPr id="9" name="text-406"/>
          <p:cNvSpPr txBox="1"/>
          <p:nvPr/>
        </p:nvSpPr>
        <p:spPr>
          <a:xfrm>
            <a:off x="1920240" y="452628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英语学起来，</a:t>
            </a:r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朋友遍天下！</a:t>
            </a:r>
            <a:endParaRPr lang="en-US" sz="4000" dirty="0"/>
          </a:p>
        </p:txBody>
      </p:sp>
      <p:pic>
        <p:nvPicPr>
          <p:cNvPr id="10" name="robot-407" descr="机器人小智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920240"/>
            <a:ext cx="2606040" cy="3566160"/>
          </a:xfrm>
          <a:prstGeom prst="rect">
            <a:avLst/>
          </a:prstGeom>
        </p:spPr>
      </p:pic>
      <p:pic>
        <p:nvPicPr>
          <p:cNvPr id="11" name="emoji-star-408" descr="st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1463040"/>
            <a:ext cx="685800" cy="685800"/>
          </a:xfrm>
          <a:prstGeom prst="rect">
            <a:avLst/>
          </a:prstGeom>
        </p:spPr>
      </p:pic>
      <p:pic>
        <p:nvPicPr>
          <p:cNvPr id="12" name="emoji-star-409" descr="st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9960" y="512064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0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AI伴我成长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我们一起长大！Bye-bye！</a:t>
            </a:r>
            <a:endParaRPr lang="en-US" sz="2800" dirty="0"/>
          </a:p>
        </p:txBody>
      </p:sp>
      <p:sp>
        <p:nvSpPr>
          <p:cNvPr id="4" name="pill-410"/>
          <p:cNvSpPr/>
          <p:nvPr/>
        </p:nvSpPr>
        <p:spPr>
          <a:xfrm>
            <a:off x="731520" y="4434840"/>
            <a:ext cx="5852160" cy="8229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pic>
        <p:nvPicPr>
          <p:cNvPr id="5" name="emoji-star-411" descr="s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544568"/>
            <a:ext cx="603504" cy="603504"/>
          </a:xfrm>
          <a:prstGeom prst="rect">
            <a:avLst/>
          </a:prstGeom>
        </p:spPr>
      </p:pic>
      <p:sp>
        <p:nvSpPr>
          <p:cNvPr id="6" name="text-412"/>
          <p:cNvSpPr txBox="1"/>
          <p:nvPr/>
        </p:nvSpPr>
        <p:spPr>
          <a:xfrm>
            <a:off x="1645920" y="4434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颁发「AI 小训练师」贴纸</a:t>
            </a:r>
            <a:endParaRPr lang="en-US" sz="2600" dirty="0"/>
          </a:p>
        </p:txBody>
      </p:sp>
      <p:sp>
        <p:nvSpPr>
          <p:cNvPr id="7" name="circle-413"/>
          <p:cNvSpPr/>
          <p:nvPr/>
        </p:nvSpPr>
        <p:spPr>
          <a:xfrm>
            <a:off x="6858000" y="822960"/>
            <a:ext cx="4937760" cy="4937760"/>
          </a:xfrm>
          <a:prstGeom prst="ellipse">
            <a:avLst/>
          </a:prstGeom>
          <a:solidFill>
            <a:schemeClr val="accent5">
              <a:alpha val="45000"/>
            </a:schemeClr>
          </a:solidFill>
          <a:ln/>
        </p:spPr>
      </p:sp>
      <p:pic>
        <p:nvPicPr>
          <p:cNvPr id="8" name="robot-414" descr="机器人小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097280"/>
            <a:ext cx="3541542" cy="4846320"/>
          </a:xfrm>
          <a:prstGeom prst="rect">
            <a:avLst/>
          </a:prstGeom>
        </p:spPr>
      </p:pic>
      <p:pic>
        <p:nvPicPr>
          <p:cNvPr id="9" name="emoji-wave-415" descr="wa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I Grow Up">
  <a:themeElements>
    <a:clrScheme name="AI Grow Up">
      <a:dk1>
        <a:srgbClr val="2D2A6E"/>
      </a:dk1>
      <a:lt1>
        <a:srgbClr val="FFFFFF"/>
      </a:lt1>
      <a:dk2>
        <a:srgbClr val="1E1B4B"/>
      </a:dk2>
      <a:lt2>
        <a:srgbClr val="EEF3FF"/>
      </a:lt2>
      <a:accent1>
        <a:srgbClr val="FFC83D"/>
      </a:accent1>
      <a:accent2>
        <a:srgbClr val="F25C66"/>
      </a:accent2>
      <a:accent3>
        <a:srgbClr val="3A86FF"/>
      </a:accent3>
      <a:accent4>
        <a:srgbClr val="1FAF6E"/>
      </a:accent4>
      <a:accent5>
        <a:srgbClr val="8B5CF6"/>
      </a:accent5>
      <a:accent6>
        <a:srgbClr val="FF9F1C"/>
      </a:accent6>
      <a:hlink>
        <a:srgbClr val="3A86FF"/>
      </a:hlink>
      <a:folHlink>
        <a:srgbClr val="8B5CF6"/>
      </a:folHlink>
    </a:clrScheme>
    <a:fontScheme name="AI Grow Up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AI伴我成长</dc:title>
  <dc:subject>一年级 AI 启蒙课</dc:subject>
  <dc:creator>建平实验小学 一（8）班</dc:creator>
  <cp:lastModifiedBy>建平实验小学 一（8）班</cp:lastModifiedBy>
  <cp:revision>1</cp:revision>
  <dcterms:created xsi:type="dcterms:W3CDTF">2026-10-16T05:02:07Z</dcterms:created>
  <dcterms:modified xsi:type="dcterms:W3CDTF">2026-10-16T05:02:07Z</dcterms:modified>
</cp:coreProperties>
</file>